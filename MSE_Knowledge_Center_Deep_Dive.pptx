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Cold open: this is an internal engineering walkthrough of the MSE Knowledge Center -- what it is, how it's built, what's genuinely clever, and what's technical debt. Aimed at peers, so we go under the hood.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the scope: this is a consolidated knowledge hub across three product lines, with search, an AI copilot, in-app authoring, and an admin governance layer. Numbers on the left are from the live database snapshot.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Everything sits behind one FastAPI process: the browser talks only to same-origin /api/* routes; the app in turn owns a single SQLite file, a product-segregated uploads folder, and a chain of LLM providers with an offline fallback. The indexer is the glue that keeps the DB in sync with the filesystem.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vector DB, no LangChain/LlamaIndex, no npm build -- deliberately minimal-dependency across the board. LLM calls go through raw urllib, not the openai SDK.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groups left to right, top to bottom. Flag main.py's size as a maintainability point we'll return to on the tech-debt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Schema evolves via imperative ALTER TABLE checks in init_db() on every boot -- no Alembic. Fine at this scale, worth flagging as debt later. Numbers on the right are live counts from this snapshot's kb_system.db.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embeddings, no vector DB, no BM25 library -- search_relevant_knowledge() in ai_engine.py is ~300 lines of hand-tuned heuristics. Trade-off: no chunking either, whole documents score as one unit, snippets are just content[:350].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Groq keys are hardcoded (XOR-obfuscated, trivially reversible) in two files -- flag it here lightly, full detail lives on the debt slide. The offline Expert Synthesizer is a genuinely clever demo/no-internet safety net, not a corner cut.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folder-token heuristic exists because of a real historical bug -- a CSO runbook titled 'SOP for XPA Projects Alerts' was wrongly landing in the xpa space under exact-match logic. The safety valve is genuinely production-hardened, not theoretical.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roles in practice, though the User.role column comment still only lists three -- Reviewer was added later without updating it. The token-in-query-param fallback is a deliberate trade-off for downloadable links, worth naming as a minor risk.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 earlier React prototype under src/ existed and was removed once it fell behind the live UI -- it's still in git history if ever revisited, but the current UI is intentionally plain.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a genuinely strong story for a support org running locked-down, no-internet Windows VMs -- worth calling out explicitly as a design win, not just an operational footnote.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the points worth defending in Q&amp;A -- each is a deliberate design choice with a documented reason, not an accident.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Deliver this candidly -- nothing here is a surprise for a codebase that grew fast under real support-org pressure. The secrets point is the one to act on soonest regardless of scale plans: rotate the JWT key and move API keys to environment variables / a secrets manager.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End on the discussion prompts, not a hard recommendation -- the goal is to get the room debating priorities, especially the secrets rotation which needs no debate at 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393070" y="974750"/>
            <a:ext cx="427939" cy="427939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415369" y="665683"/>
            <a:ext cx="285292" cy="285292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153851" y="1735531"/>
            <a:ext cx="237744" cy="237744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48486" y="5629046"/>
            <a:ext cx="263347" cy="263347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777593" y="5438851"/>
            <a:ext cx="175564" cy="17556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16659" y="6097219"/>
            <a:ext cx="146304" cy="146304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33172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mbria"/>
              </a:rPr>
              <a:t>MSE KNOWLEDGE CENTER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320040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CFC9F2"/>
                </a:solidFill>
                <a:latin typeface="Calibri"/>
              </a:rPr>
              <a:t>Architecture &amp; Engineering Deep-Dive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37947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06B6D4"/>
                </a:solidFill>
                <a:latin typeface="Calibri"/>
              </a:rPr>
              <a:t>FastAPI monolith  ·  Vanilla-JS SPA  ·  Rule-based RAG Copilot  ·  Airgap-ready deployment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41248" y="5989320"/>
            <a:ext cx="3108960" cy="0"/>
          </a:xfrm>
          <a:prstGeom prst="line">
            <a:avLst/>
          </a:prstGeom>
          <a:ln w="19050">
            <a:solidFill>
              <a:srgbClr val="7C3AE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41248" y="60807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CFC9F2"/>
                </a:solidFill>
                <a:latin typeface="Calibri"/>
              </a:rPr>
              <a:t>Prepared by Abhishek Pawar  — 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7C3AED"/>
                </a:solidFill>
                <a:latin typeface="Calibri"/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F2933"/>
                </a:solidFill>
                <a:latin typeface="Cambria"/>
              </a:rPr>
              <a:t>One portal for xpa, xpi &amp; Cloud Native knowledge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50292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 i="0">
                <a:solidFill>
                  <a:srgbClr val="5B6472"/>
                </a:solidFill>
                <a:latin typeface="Calibri"/>
              </a:rPr>
              <a:t>A FastAPI + vanilla-JS knowledge management and AI search portal built for Magic Software's support and engineering orgs -- spanning Magic xpa, Magic xpi (iPaaS), and Cloud Native / modernization content in one product-aware workspace.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3429000"/>
            <a:ext cx="5029200" cy="2788920"/>
          </a:xfrm>
          <a:prstGeom prst="roundRect">
            <a:avLst>
              <a:gd name="adj" fmla="val 6000"/>
            </a:avLst>
          </a:prstGeom>
          <a:solidFill>
            <a:srgbClr val="F3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703320"/>
            <a:ext cx="21031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E1B4B"/>
                </a:solidFill>
                <a:latin typeface="Cambria"/>
              </a:rPr>
              <a:t>81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70248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5B6472"/>
                </a:solidFill>
                <a:latin typeface="Calibri"/>
              </a:rPr>
              <a:t>API endpoints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3703320"/>
            <a:ext cx="21031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E1B4B"/>
                </a:solidFill>
                <a:latin typeface="Cambria"/>
              </a:rPr>
              <a:t>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4270248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5B6472"/>
                </a:solidFill>
                <a:latin typeface="Calibri"/>
              </a:rPr>
              <a:t>database tables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937760"/>
            <a:ext cx="21031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E1B4B"/>
                </a:solidFill>
                <a:latin typeface="Cambria"/>
              </a:rPr>
              <a:t>171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504688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5B6472"/>
                </a:solidFill>
                <a:latin typeface="Calibri"/>
              </a:rPr>
              <a:t>KB articles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4937760"/>
            <a:ext cx="21031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E1B4B"/>
                </a:solidFill>
                <a:latin typeface="Cambria"/>
              </a:rPr>
              <a:t>3,857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5504688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5B6472"/>
                </a:solidFill>
                <a:latin typeface="Calibri"/>
              </a:rPr>
              <a:t>help topics indexed</a:t>
            </a:r>
          </a:p>
        </p:txBody>
      </p:sp>
      <p:sp>
        <p:nvSpPr>
          <p:cNvPr id="14" name="Oval 13"/>
          <p:cNvSpPr/>
          <p:nvPr/>
        </p:nvSpPr>
        <p:spPr>
          <a:xfrm>
            <a:off x="5989320" y="1417320"/>
            <a:ext cx="502920" cy="50292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89320" y="141732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0840" y="1362456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F2933"/>
                </a:solidFill>
                <a:latin typeface="Calibri"/>
              </a:rPr>
              <a:t>Multi-Product Spaces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0840" y="1709928"/>
            <a:ext cx="4892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B6472"/>
                </a:solidFill>
                <a:latin typeface="Calibri"/>
              </a:rPr>
              <a:t>All-Products hub plus dedicated xpa / xpi / Cloud Native workspaces.</a:t>
            </a:r>
          </a:p>
        </p:txBody>
      </p:sp>
      <p:sp>
        <p:nvSpPr>
          <p:cNvPr id="18" name="Oval 17"/>
          <p:cNvSpPr/>
          <p:nvPr/>
        </p:nvSpPr>
        <p:spPr>
          <a:xfrm>
            <a:off x="5989320" y="2587752"/>
            <a:ext cx="502920" cy="502920"/>
          </a:xfrm>
          <a:prstGeom prst="ellipse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89320" y="2587752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2532888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F2933"/>
                </a:solidFill>
                <a:latin typeface="Calibri"/>
              </a:rPr>
              <a:t>Omnibox Search &amp; Telemetry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0840" y="2880360"/>
            <a:ext cx="4892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B6472"/>
                </a:solidFill>
                <a:latin typeface="Calibri"/>
              </a:rPr>
              <a:t>Typo-tolerant full-text search; zero-result queries logged as documentation gaps.</a:t>
            </a:r>
          </a:p>
        </p:txBody>
      </p:sp>
      <p:sp>
        <p:nvSpPr>
          <p:cNvPr id="22" name="Oval 21"/>
          <p:cNvSpPr/>
          <p:nvPr/>
        </p:nvSpPr>
        <p:spPr>
          <a:xfrm>
            <a:off x="5989320" y="3758184"/>
            <a:ext cx="502920" cy="50292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89320" y="3758184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370332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F2933"/>
                </a:solidFill>
                <a:latin typeface="Calibri"/>
              </a:rPr>
              <a:t>Magic AI Copilot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20840" y="4050792"/>
            <a:ext cx="4892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B6472"/>
                </a:solidFill>
                <a:latin typeface="Calibri"/>
              </a:rPr>
              <a:t>RAG-style assistant with cited sources, log/case diagnostics, and follow-ups.</a:t>
            </a:r>
          </a:p>
        </p:txBody>
      </p:sp>
      <p:sp>
        <p:nvSpPr>
          <p:cNvPr id="26" name="Oval 25"/>
          <p:cNvSpPr/>
          <p:nvPr/>
        </p:nvSpPr>
        <p:spPr>
          <a:xfrm>
            <a:off x="5989320" y="4928616"/>
            <a:ext cx="502920" cy="502920"/>
          </a:xfrm>
          <a:prstGeom prst="ellipse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89320" y="4928616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20840" y="4873752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F2933"/>
                </a:solidFill>
                <a:latin typeface="Calibri"/>
              </a:rPr>
              <a:t>Governance Suite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20840" y="5221224"/>
            <a:ext cx="4892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B6472"/>
                </a:solidFill>
                <a:latin typeface="Calibri"/>
              </a:rPr>
              <a:t>RBAC, review workflow, taxonomy control, one-click re-index, audit logs.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688775" y="6419088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6472"/>
                </a:solidFill>
                <a:latin typeface="Calibri"/>
              </a:rPr>
              <a:t>02</a:t>
            </a:r>
          </a:p>
        </p:txBody>
      </p:sp>
      <p:sp>
        <p:nvSpPr>
          <p:cNvPr id="31" name="Oval 30"/>
          <p:cNvSpPr/>
          <p:nvPr/>
        </p:nvSpPr>
        <p:spPr>
          <a:xfrm>
            <a:off x="11186312" y="6510985"/>
            <a:ext cx="90525" cy="90525"/>
          </a:xfrm>
          <a:prstGeom prst="ellipse">
            <a:avLst/>
          </a:prstGeom>
          <a:solidFill>
            <a:srgbClr val="C9B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1402568" y="6445605"/>
            <a:ext cx="60350" cy="60350"/>
          </a:xfrm>
          <a:prstGeom prst="ellipse">
            <a:avLst/>
          </a:prstGeom>
          <a:solidFill>
            <a:srgbClr val="C9B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1347246" y="6671919"/>
            <a:ext cx="50292" cy="50292"/>
          </a:xfrm>
          <a:prstGeom prst="ellipse">
            <a:avLst/>
          </a:prstGeom>
          <a:solidFill>
            <a:srgbClr val="C9B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7C3AED"/>
                </a:solidFill>
                <a:latin typeface="Calibri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F2933"/>
                </a:solidFill>
                <a:latin typeface="Cambria"/>
              </a:rPr>
              <a:t>System architecture at a glance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80560" y="1417320"/>
            <a:ext cx="3291840" cy="777240"/>
          </a:xfrm>
          <a:prstGeom prst="roundRect">
            <a:avLst>
              <a:gd name="adj" fmla="val 6000"/>
            </a:avLst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0" y="1536192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Calibri"/>
              </a:rPr>
              <a:t>Browser — Vanilla-JS SPA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82880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 i="0">
                <a:solidFill>
                  <a:srgbClr val="CFC9F2"/>
                </a:solidFill>
                <a:latin typeface="Calibri"/>
              </a:rPr>
              <a:t>index.html + app.js  ·  no build step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126480" y="2194560"/>
            <a:ext cx="0" cy="340156"/>
          </a:xfrm>
          <a:prstGeom prst="line">
            <a:avLst/>
          </a:prstGeom>
          <a:ln w="22225">
            <a:solidFill>
              <a:srgbClr val="5B647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Isosceles Triangle 7"/>
          <p:cNvSpPr/>
          <p:nvPr/>
        </p:nvSpPr>
        <p:spPr>
          <a:xfrm rot="10800000">
            <a:off x="6067044" y="2487168"/>
            <a:ext cx="118872" cy="118872"/>
          </a:xfrm>
          <a:prstGeom prst="triangle">
            <a:avLst/>
          </a:prstGeom>
          <a:solidFill>
            <a:srgbClr val="5B6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566160" y="2606040"/>
            <a:ext cx="5120640" cy="914400"/>
          </a:xfrm>
          <a:prstGeom prst="roundRect">
            <a:avLst>
              <a:gd name="adj" fmla="val 6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274320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50" b="1" i="0">
                <a:solidFill>
                  <a:srgbClr val="FFFFFF"/>
                </a:solidFill>
                <a:latin typeface="Calibri"/>
              </a:rPr>
              <a:t>FastAPI Monolith — main.py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310896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81 routes · 3,616 lines · JWT auth + RBAC on every mutating route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126480" y="3520440"/>
            <a:ext cx="0" cy="457199"/>
          </a:xfrm>
          <a:prstGeom prst="line">
            <a:avLst/>
          </a:prstGeom>
          <a:ln w="22225">
            <a:solidFill>
              <a:srgbClr val="9A94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194560" y="3977639"/>
            <a:ext cx="7863840" cy="0"/>
          </a:xfrm>
          <a:prstGeom prst="line">
            <a:avLst/>
          </a:prstGeom>
          <a:ln w="22225">
            <a:solidFill>
              <a:srgbClr val="9A94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194560" y="3977639"/>
            <a:ext cx="0" cy="111557"/>
          </a:xfrm>
          <a:prstGeom prst="line">
            <a:avLst/>
          </a:prstGeom>
          <a:ln w="22225">
            <a:solidFill>
              <a:srgbClr val="9A94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Isosceles Triangle 14"/>
          <p:cNvSpPr/>
          <p:nvPr/>
        </p:nvSpPr>
        <p:spPr>
          <a:xfrm rot="10800000">
            <a:off x="2135124" y="4041648"/>
            <a:ext cx="118872" cy="118872"/>
          </a:xfrm>
          <a:prstGeom prst="triangle">
            <a:avLst/>
          </a:prstGeom>
          <a:solidFill>
            <a:srgbClr val="9A9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48640" y="4160520"/>
            <a:ext cx="3291840" cy="1051560"/>
          </a:xfrm>
          <a:prstGeom prst="roundRect">
            <a:avLst>
              <a:gd name="adj" fmla="val 6000"/>
            </a:avLst>
          </a:prstGeom>
          <a:solidFill>
            <a:srgbClr val="2A25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279392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SQLite — kb_system.db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645152"/>
            <a:ext cx="3108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CFC9F2"/>
                </a:solidFill>
                <a:latin typeface="Calibri"/>
              </a:rPr>
              <a:t>16 tables, single file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126480" y="3977639"/>
            <a:ext cx="0" cy="111557"/>
          </a:xfrm>
          <a:prstGeom prst="line">
            <a:avLst/>
          </a:prstGeom>
          <a:ln w="22225">
            <a:solidFill>
              <a:srgbClr val="9A94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Isosceles Triangle 19"/>
          <p:cNvSpPr/>
          <p:nvPr/>
        </p:nvSpPr>
        <p:spPr>
          <a:xfrm rot="10800000">
            <a:off x="6067044" y="4041648"/>
            <a:ext cx="118872" cy="118872"/>
          </a:xfrm>
          <a:prstGeom prst="triangle">
            <a:avLst/>
          </a:prstGeom>
          <a:solidFill>
            <a:srgbClr val="9A9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480560" y="4160520"/>
            <a:ext cx="3291840" cy="1051560"/>
          </a:xfrm>
          <a:prstGeom prst="roundRect">
            <a:avLst>
              <a:gd name="adj" fmla="val 6000"/>
            </a:avLst>
          </a:prstGeom>
          <a:solidFill>
            <a:srgbClr val="2A25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0" y="4279392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uploads/ file store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4645152"/>
            <a:ext cx="3108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CFC9F2"/>
                </a:solidFill>
                <a:latin typeface="Calibri"/>
              </a:rPr>
              <a:t>product-segregated by folder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0058400" y="3977639"/>
            <a:ext cx="0" cy="111557"/>
          </a:xfrm>
          <a:prstGeom prst="line">
            <a:avLst/>
          </a:prstGeom>
          <a:ln w="22225">
            <a:solidFill>
              <a:srgbClr val="9A94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Isosceles Triangle 24"/>
          <p:cNvSpPr/>
          <p:nvPr/>
        </p:nvSpPr>
        <p:spPr>
          <a:xfrm rot="10800000">
            <a:off x="9998964" y="4041648"/>
            <a:ext cx="118872" cy="118872"/>
          </a:xfrm>
          <a:prstGeom prst="triangle">
            <a:avLst/>
          </a:prstGeom>
          <a:solidFill>
            <a:srgbClr val="9A9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412480" y="4160520"/>
            <a:ext cx="3291840" cy="1051560"/>
          </a:xfrm>
          <a:prstGeom prst="roundRect">
            <a:avLst>
              <a:gd name="adj" fmla="val 6000"/>
            </a:avLst>
          </a:prstGeom>
          <a:solidFill>
            <a:srgbClr val="2A25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03919" y="4279392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LLM Providers + Offline Fallback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19" y="4645152"/>
            <a:ext cx="3108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CFC9F2"/>
                </a:solidFill>
                <a:latin typeface="Calibri"/>
              </a:rPr>
              <a:t>Groq → Gemini/OpenAI/… → Expert Synthesizer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5623560"/>
            <a:ext cx="7498079" cy="777240"/>
          </a:xfrm>
          <a:prstGeom prst="roundRect">
            <a:avLst>
              <a:gd name="adj" fmla="val 6000"/>
            </a:avLst>
          </a:prstGeom>
          <a:solidFill>
            <a:srgbClr val="F3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5733288"/>
            <a:ext cx="70408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1">
                <a:solidFill>
                  <a:srgbClr val="5B6472"/>
                </a:solidFill>
                <a:latin typeface="Calibri"/>
              </a:rPr>
              <a:t>indexer.py runs on a background daemon thread at startup, on every upload, and on manual admin re-index — parsing files into SQLite and classifying them by product.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688775" y="6419088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6472"/>
                </a:solidFill>
                <a:latin typeface="Calibri"/>
              </a:rPr>
              <a:t>03</a:t>
            </a:r>
          </a:p>
        </p:txBody>
      </p:sp>
      <p:sp>
        <p:nvSpPr>
          <p:cNvPr id="32" name="Oval 31"/>
          <p:cNvSpPr/>
          <p:nvPr/>
        </p:nvSpPr>
        <p:spPr>
          <a:xfrm>
            <a:off x="11186312" y="6510985"/>
            <a:ext cx="90525" cy="90525"/>
          </a:xfrm>
          <a:prstGeom prst="ellipse">
            <a:avLst/>
          </a:prstGeom>
          <a:solidFill>
            <a:srgbClr val="C9B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1402568" y="6445605"/>
            <a:ext cx="60350" cy="60350"/>
          </a:xfrm>
          <a:prstGeom prst="ellipse">
            <a:avLst/>
          </a:prstGeom>
          <a:solidFill>
            <a:srgbClr val="C9B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1347246" y="6671919"/>
            <a:ext cx="50292" cy="50292"/>
          </a:xfrm>
          <a:prstGeom prst="ellipse">
            <a:avLst/>
          </a:prstGeom>
          <a:solidFill>
            <a:srgbClr val="C9B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7C3AED"/>
                </a:solidFill>
                <a:latin typeface="Calibri"/>
              </a:rPr>
              <a:t>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F2933"/>
                </a:solidFill>
                <a:latin typeface="Cambria"/>
              </a:rPr>
              <a:t>Tech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2615184" cy="4892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4672" y="1691640"/>
            <a:ext cx="2103120" cy="384048"/>
          </a:xfrm>
          <a:prstGeom prst="roundRect">
            <a:avLst>
              <a:gd name="adj" fmla="val 20000"/>
            </a:avLst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691640"/>
            <a:ext cx="2103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Backend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331720"/>
            <a:ext cx="2148840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1200"/>
              </a:spcAft>
            </a:pPr>
            <a:r>
              <a:rPr sz="1150" b="0">
                <a:solidFill>
                  <a:srgbClr val="1F2933"/>
                </a:solidFill>
                <a:latin typeface="Calibri"/>
              </a:rPr>
              <a:t>•  FastAPI 0.111 — single app object</a:t>
            </a:r>
          </a:p>
          <a:p>
            <a:pPr>
              <a:spcAft>
                <a:spcPts val="1200"/>
              </a:spcAft>
            </a:pPr>
            <a:r>
              <a:rPr sz="1150" b="0">
                <a:solidFill>
                  <a:srgbClr val="1F2933"/>
                </a:solidFill>
                <a:latin typeface="Calibri"/>
              </a:rPr>
              <a:t>•  Uvicorn ASGI server</a:t>
            </a:r>
          </a:p>
          <a:p>
            <a:pPr>
              <a:spcAft>
                <a:spcPts val="1200"/>
              </a:spcAft>
            </a:pPr>
            <a:r>
              <a:rPr sz="1150" b="0">
                <a:solidFill>
                  <a:srgbClr val="1F2933"/>
                </a:solidFill>
                <a:latin typeface="Calibri"/>
              </a:rPr>
              <a:t>•  SQLAlchemy 2.0 (no Alembic — imperative migrations)</a:t>
            </a:r>
          </a:p>
          <a:p>
            <a:pPr>
              <a:spcAft>
                <a:spcPts val="1200"/>
              </a:spcAft>
            </a:pPr>
            <a:r>
              <a:rPr sz="1150" b="0">
                <a:solidFill>
                  <a:srgbClr val="1F2933"/>
                </a:solidFill>
                <a:latin typeface="Calibri"/>
              </a:rPr>
              <a:t>•  python-jose — JWT (HS256)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64992" y="1417320"/>
            <a:ext cx="2615184" cy="4892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21024" y="1691640"/>
            <a:ext cx="2103120" cy="384048"/>
          </a:xfrm>
          <a:prstGeom prst="roundRect">
            <a:avLst>
              <a:gd name="adj" fmla="val 2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21024" y="1691640"/>
            <a:ext cx="2103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Ingestion Parsers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21024" y="2331720"/>
            <a:ext cx="2148840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1200"/>
              </a:spcAft>
            </a:pPr>
            <a:r>
              <a:rPr sz="1150" b="0">
                <a:solidFill>
                  <a:srgbClr val="1F2933"/>
                </a:solidFill>
                <a:latin typeface="Calibri"/>
              </a:rPr>
              <a:t>•  BeautifulSoup4 — HTML / Confluence</a:t>
            </a:r>
          </a:p>
          <a:p>
            <a:pPr>
              <a:spcAft>
                <a:spcPts val="1200"/>
              </a:spcAft>
            </a:pPr>
            <a:r>
              <a:rPr sz="1150" b="0">
                <a:solidFill>
                  <a:srgbClr val="1F2933"/>
                </a:solidFill>
                <a:latin typeface="Calibri"/>
              </a:rPr>
              <a:t>•  pypdf — PDF text + images</a:t>
            </a:r>
          </a:p>
          <a:p>
            <a:pPr>
              <a:spcAft>
                <a:spcPts val="1200"/>
              </a:spcAft>
            </a:pPr>
            <a:r>
              <a:rPr sz="1150" b="0">
                <a:solidFill>
                  <a:srgbClr val="1F2933"/>
                </a:solidFill>
                <a:latin typeface="Calibri"/>
              </a:rPr>
              <a:t>•  python-docx + mammoth — DOCX → HTML</a:t>
            </a:r>
          </a:p>
          <a:p>
            <a:pPr>
              <a:spcAft>
                <a:spcPts val="1200"/>
              </a:spcAft>
            </a:pPr>
            <a:r>
              <a:rPr sz="1150" b="0">
                <a:solidFill>
                  <a:srgbClr val="1F2933"/>
                </a:solidFill>
                <a:latin typeface="Calibri"/>
              </a:rPr>
              <a:t>•  markdown — .md → HTML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1344" y="1417320"/>
            <a:ext cx="2615184" cy="4892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37376" y="1691640"/>
            <a:ext cx="2103120" cy="384048"/>
          </a:xfrm>
          <a:prstGeom prst="roundRect">
            <a:avLst>
              <a:gd name="adj" fmla="val 20000"/>
            </a:avLst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37376" y="1691640"/>
            <a:ext cx="2103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Frontend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7376" y="2331720"/>
            <a:ext cx="2148840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1200"/>
              </a:spcAft>
            </a:pPr>
            <a:r>
              <a:rPr sz="1150" b="0">
                <a:solidFill>
                  <a:srgbClr val="1F2933"/>
                </a:solidFill>
                <a:latin typeface="Calibri"/>
              </a:rPr>
              <a:t>•  Vanilla JS, 6,392 lines, one IIFE</a:t>
            </a:r>
          </a:p>
          <a:p>
            <a:pPr>
              <a:spcAft>
                <a:spcPts val="1200"/>
              </a:spcAft>
            </a:pPr>
            <a:r>
              <a:rPr sz="1150" b="0">
                <a:solidFill>
                  <a:srgbClr val="1F2933"/>
                </a:solidFill>
                <a:latin typeface="Calibri"/>
              </a:rPr>
              <a:t>•  No bundler, no npm build step</a:t>
            </a:r>
          </a:p>
          <a:p>
            <a:pPr>
              <a:spcAft>
                <a:spcPts val="1200"/>
              </a:spcAft>
            </a:pPr>
            <a:r>
              <a:rPr sz="1150" b="0">
                <a:solidFill>
                  <a:srgbClr val="1F2933"/>
                </a:solidFill>
                <a:latin typeface="Calibri"/>
              </a:rPr>
              <a:t>•  CDN: Lucide, marked.js, Chart.js</a:t>
            </a:r>
          </a:p>
          <a:p>
            <a:pPr>
              <a:spcAft>
                <a:spcPts val="1200"/>
              </a:spcAft>
            </a:pPr>
            <a:r>
              <a:rPr sz="1150" b="0">
                <a:solidFill>
                  <a:srgbClr val="1F2933"/>
                </a:solidFill>
                <a:latin typeface="Calibri"/>
              </a:rPr>
              <a:t>•  State: module vars + localStorage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97696" y="1417320"/>
            <a:ext cx="2615184" cy="4892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253728" y="1691640"/>
            <a:ext cx="2103120" cy="384048"/>
          </a:xfrm>
          <a:prstGeom prst="roundRect">
            <a:avLst>
              <a:gd name="adj" fmla="val 2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53728" y="1691640"/>
            <a:ext cx="2103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AI &amp; Integrations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53728" y="2331720"/>
            <a:ext cx="2148840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1200"/>
              </a:spcAft>
            </a:pPr>
            <a:r>
              <a:rPr sz="1150" b="0">
                <a:solidFill>
                  <a:srgbClr val="1F2933"/>
                </a:solidFill>
                <a:latin typeface="Calibri"/>
              </a:rPr>
              <a:t>•  Groq (default) · Gemini · OpenAI</a:t>
            </a:r>
          </a:p>
          <a:p>
            <a:pPr>
              <a:spcAft>
                <a:spcPts val="1200"/>
              </a:spcAft>
            </a:pPr>
            <a:r>
              <a:rPr sz="1150" b="0">
                <a:solidFill>
                  <a:srgbClr val="1F2933"/>
                </a:solidFill>
                <a:latin typeface="Calibri"/>
              </a:rPr>
              <a:t>•  OpenRouter · Azure · Ollama (local)</a:t>
            </a:r>
          </a:p>
          <a:p>
            <a:pPr>
              <a:spcAft>
                <a:spcPts val="1200"/>
              </a:spcAft>
            </a:pPr>
            <a:r>
              <a:rPr sz="1150" b="0">
                <a:solidFill>
                  <a:srgbClr val="1F2933"/>
                </a:solidFill>
                <a:latin typeface="Calibri"/>
              </a:rPr>
              <a:t>•  Salesforce case import (CSV + API)</a:t>
            </a:r>
          </a:p>
          <a:p>
            <a:pPr>
              <a:spcAft>
                <a:spcPts val="1200"/>
              </a:spcAft>
            </a:pPr>
            <a:r>
              <a:rPr sz="1150" b="0">
                <a:solidFill>
                  <a:srgbClr val="1F2933"/>
                </a:solidFill>
                <a:latin typeface="Calibri"/>
              </a:rPr>
              <a:t>•  Offline “Expert Synthesizer” fallback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688775" y="6419088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6472"/>
                </a:solidFill>
                <a:latin typeface="Calibri"/>
              </a:rPr>
              <a:t>04</a:t>
            </a:r>
          </a:p>
        </p:txBody>
      </p:sp>
      <p:sp>
        <p:nvSpPr>
          <p:cNvPr id="21" name="Oval 20"/>
          <p:cNvSpPr/>
          <p:nvPr/>
        </p:nvSpPr>
        <p:spPr>
          <a:xfrm>
            <a:off x="11186312" y="6510985"/>
            <a:ext cx="90525" cy="90525"/>
          </a:xfrm>
          <a:prstGeom prst="ellipse">
            <a:avLst/>
          </a:prstGeom>
          <a:solidFill>
            <a:srgbClr val="C9B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402568" y="6445605"/>
            <a:ext cx="60350" cy="60350"/>
          </a:xfrm>
          <a:prstGeom prst="ellipse">
            <a:avLst/>
          </a:prstGeom>
          <a:solidFill>
            <a:srgbClr val="C9B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347246" y="6671919"/>
            <a:ext cx="50292" cy="50292"/>
          </a:xfrm>
          <a:prstGeom prst="ellipse">
            <a:avLst/>
          </a:prstGeom>
          <a:solidFill>
            <a:srgbClr val="C9B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7C3AED"/>
                </a:solidFill>
                <a:latin typeface="Calibri"/>
              </a:rPr>
              <a:t>BACKEND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F2933"/>
                </a:solidFill>
                <a:latin typeface="Cambria"/>
              </a:rPr>
              <a:t>One file, 81 endpoints, 8 route groups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2615184" cy="1554480"/>
          </a:xfrm>
          <a:prstGeom prst="roundRect">
            <a:avLst>
              <a:gd name="adj" fmla="val 6000"/>
            </a:avLst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27632"/>
            <a:ext cx="224942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Auth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29968"/>
            <a:ext cx="2249424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E7E3F9"/>
                </a:solidFill>
                <a:latin typeface="Calibri"/>
              </a:rPr>
              <a:t>login, /me, login history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64992" y="1463040"/>
            <a:ext cx="2615184" cy="1554480"/>
          </a:xfrm>
          <a:prstGeom prst="roundRect">
            <a:avLst>
              <a:gd name="adj" fmla="val 6000"/>
            </a:avLst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47872" y="1627632"/>
            <a:ext cx="224942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47872" y="2029968"/>
            <a:ext cx="2249424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E7E3F9"/>
                </a:solidFill>
                <a:latin typeface="Calibri"/>
              </a:rPr>
              <a:t>GET /api/search — the core read path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1344" y="1463040"/>
            <a:ext cx="2615184" cy="1554480"/>
          </a:xfrm>
          <a:prstGeom prst="roundRect">
            <a:avLst>
              <a:gd name="adj" fmla="val 6000"/>
            </a:avLst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64224" y="1627632"/>
            <a:ext cx="224942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AI Copilot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4224" y="2029968"/>
            <a:ext cx="2249424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E7E3F9"/>
                </a:solidFill>
                <a:latin typeface="Calibri"/>
              </a:rPr>
              <a:t>chat, case analysis, sessions, publish-to-KB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97696" y="1463040"/>
            <a:ext cx="2615184" cy="1554480"/>
          </a:xfrm>
          <a:prstGeom prst="roundRect">
            <a:avLst>
              <a:gd name="adj" fmla="val 6000"/>
            </a:avLst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80576" y="1627632"/>
            <a:ext cx="224942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Salesforce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80576" y="2029968"/>
            <a:ext cx="2249424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E7E3F9"/>
                </a:solidFill>
                <a:latin typeface="Calibri"/>
              </a:rPr>
              <a:t>case list, CSV upload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218688"/>
            <a:ext cx="2615184" cy="1554480"/>
          </a:xfrm>
          <a:prstGeom prst="roundRect">
            <a:avLst>
              <a:gd name="adj" fmla="val 6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383280"/>
            <a:ext cx="224942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Document / KB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785615"/>
            <a:ext cx="2249424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E7E3F9"/>
                </a:solidFill>
                <a:latin typeface="Calibri"/>
              </a:rPr>
              <a:t>read, comment, favorite, tag, tree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64992" y="3218688"/>
            <a:ext cx="2615184" cy="1554480"/>
          </a:xfrm>
          <a:prstGeom prst="roundRect">
            <a:avLst>
              <a:gd name="adj" fmla="val 6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47872" y="3383280"/>
            <a:ext cx="224942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Ingestion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47872" y="3785615"/>
            <a:ext cx="2249424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E7E3F9"/>
                </a:solidFill>
                <a:latin typeface="Calibri"/>
              </a:rPr>
              <a:t>upload, zip extract, KB create/edit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3218688"/>
            <a:ext cx="2615184" cy="1554480"/>
          </a:xfrm>
          <a:prstGeom prst="roundRect">
            <a:avLst>
              <a:gd name="adj" fmla="val 6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64224" y="3383280"/>
            <a:ext cx="224942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Admin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64224" y="3785615"/>
            <a:ext cx="2249424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E7E3F9"/>
                </a:solidFill>
                <a:latin typeface="Calibri"/>
              </a:rPr>
              <a:t>users, reindex, logs, analytics, stats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97696" y="3218688"/>
            <a:ext cx="2615184" cy="1554480"/>
          </a:xfrm>
          <a:prstGeom prst="roundRect">
            <a:avLst>
              <a:gd name="adj" fmla="val 6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80576" y="3383280"/>
            <a:ext cx="224942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Review &amp; Utilities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80576" y="3785615"/>
            <a:ext cx="2249424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E7E3F9"/>
                </a:solidFill>
                <a:latin typeface="Calibri"/>
              </a:rPr>
              <a:t>pending-review queue, downloads catalog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892040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1">
                <a:solidFill>
                  <a:srgbClr val="5B6472"/>
                </a:solidFill>
                <a:latin typeface="Calibri"/>
              </a:rPr>
              <a:t>No APIRouter separation — every route lives flat in main.py (3,616 lines). Works, but hard to review or test in isolation.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688775" y="6419088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6472"/>
                </a:solidFill>
                <a:latin typeface="Calibri"/>
              </a:rPr>
              <a:t>05</a:t>
            </a:r>
          </a:p>
        </p:txBody>
      </p:sp>
      <p:sp>
        <p:nvSpPr>
          <p:cNvPr id="30" name="Oval 29"/>
          <p:cNvSpPr/>
          <p:nvPr/>
        </p:nvSpPr>
        <p:spPr>
          <a:xfrm>
            <a:off x="11186312" y="6510985"/>
            <a:ext cx="90525" cy="90525"/>
          </a:xfrm>
          <a:prstGeom prst="ellipse">
            <a:avLst/>
          </a:prstGeom>
          <a:solidFill>
            <a:srgbClr val="C9B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1402568" y="6445605"/>
            <a:ext cx="60350" cy="60350"/>
          </a:xfrm>
          <a:prstGeom prst="ellipse">
            <a:avLst/>
          </a:prstGeom>
          <a:solidFill>
            <a:srgbClr val="C9B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1347246" y="6671919"/>
            <a:ext cx="50292" cy="50292"/>
          </a:xfrm>
          <a:prstGeom prst="ellipse">
            <a:avLst/>
          </a:prstGeom>
          <a:solidFill>
            <a:srgbClr val="C9B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7C3AED"/>
                </a:solidFill>
                <a:latin typeface="Calibri"/>
              </a:rPr>
              <a:t>DATA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F2933"/>
                </a:solidFill>
                <a:latin typeface="Cambria"/>
              </a:rPr>
              <a:t>16 tables, one SQLite file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6492240" cy="4892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91640"/>
            <a:ext cx="5852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E1B4B"/>
                </a:solidFill>
                <a:latin typeface="Calibri"/>
              </a:rPr>
              <a:t>Content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020824"/>
            <a:ext cx="5852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B6472"/>
                </a:solidFill>
                <a:latin typeface="Calibri"/>
              </a:rPr>
              <a:t>documents · help_topics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624328"/>
            <a:ext cx="5852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E1B4B"/>
                </a:solidFill>
                <a:latin typeface="Calibri"/>
              </a:rPr>
              <a:t>AI Copilot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953512"/>
            <a:ext cx="5852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B6472"/>
                </a:solidFill>
                <a:latin typeface="Calibri"/>
              </a:rPr>
              <a:t>ai_settings · ai_resolutions · ai_chat_sessions · ai_chat_messages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557016"/>
            <a:ext cx="5852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E1B4B"/>
                </a:solidFill>
                <a:latin typeface="Calibri"/>
              </a:rPr>
              <a:t>Users &amp; Security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886200"/>
            <a:ext cx="5852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B6472"/>
                </a:solidFill>
                <a:latin typeface="Calibri"/>
              </a:rPr>
              <a:t>users · user_login_history · enterprise_audit_logs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489704"/>
            <a:ext cx="5852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E1B4B"/>
                </a:solidFill>
                <a:latin typeface="Calibri"/>
              </a:rPr>
              <a:t>Engagement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818888"/>
            <a:ext cx="5852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B6472"/>
                </a:solidFill>
                <a:latin typeface="Calibri"/>
              </a:rPr>
              <a:t>comments · favorites · notifications · search_analytics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422392"/>
            <a:ext cx="5852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E1B4B"/>
                </a:solidFill>
                <a:latin typeface="Calibri"/>
              </a:rPr>
              <a:t>Ops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751576"/>
            <a:ext cx="5852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B6472"/>
                </a:solidFill>
                <a:latin typeface="Calibri"/>
              </a:rPr>
              <a:t>index_logs · salesforce_cases · support_utilities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0" y="1417320"/>
            <a:ext cx="4297680" cy="1042415"/>
          </a:xfrm>
          <a:prstGeom prst="roundRect">
            <a:avLst>
              <a:gd name="adj" fmla="val 6000"/>
            </a:avLst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0" y="1545336"/>
            <a:ext cx="18288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mbria"/>
              </a:rPr>
              <a:t>171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1417320"/>
            <a:ext cx="2194560" cy="10424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EFECFC"/>
                </a:solidFill>
                <a:latin typeface="Calibri"/>
              </a:rPr>
              <a:t>documents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0" y="2642616"/>
            <a:ext cx="4297680" cy="1042415"/>
          </a:xfrm>
          <a:prstGeom prst="roundRect">
            <a:avLst>
              <a:gd name="adj" fmla="val 6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89520" y="2770632"/>
            <a:ext cx="18288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mbria"/>
              </a:rPr>
              <a:t>3,857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2642616"/>
            <a:ext cx="2194560" cy="10424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EFECFC"/>
                </a:solidFill>
                <a:latin typeface="Calibri"/>
              </a:rPr>
              <a:t>help_topics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0" y="3867912"/>
            <a:ext cx="4297680" cy="1042415"/>
          </a:xfrm>
          <a:prstGeom prst="roundRect">
            <a:avLst>
              <a:gd name="adj" fmla="val 6000"/>
            </a:avLst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89520" y="3995928"/>
            <a:ext cx="18288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mbria"/>
              </a:rPr>
              <a:t>50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3867912"/>
            <a:ext cx="2194560" cy="10424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EFECFC"/>
                </a:solidFill>
                <a:latin typeface="Calibri"/>
              </a:rPr>
              <a:t>search_analytics rows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0" y="5093208"/>
            <a:ext cx="4297680" cy="1042415"/>
          </a:xfrm>
          <a:prstGeom prst="roundRect">
            <a:avLst>
              <a:gd name="adj" fmla="val 6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89520" y="5221224"/>
            <a:ext cx="18288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0" y="5093208"/>
            <a:ext cx="2194560" cy="10424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EFECFC"/>
                </a:solidFill>
                <a:latin typeface="Calibri"/>
              </a:rPr>
              <a:t>user (this snapshot)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688775" y="6419088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6472"/>
                </a:solidFill>
                <a:latin typeface="Calibri"/>
              </a:rPr>
              <a:t>06</a:t>
            </a:r>
          </a:p>
        </p:txBody>
      </p:sp>
      <p:sp>
        <p:nvSpPr>
          <p:cNvPr id="28" name="Oval 27"/>
          <p:cNvSpPr/>
          <p:nvPr/>
        </p:nvSpPr>
        <p:spPr>
          <a:xfrm>
            <a:off x="11186312" y="6510985"/>
            <a:ext cx="90525" cy="90525"/>
          </a:xfrm>
          <a:prstGeom prst="ellipse">
            <a:avLst/>
          </a:prstGeom>
          <a:solidFill>
            <a:srgbClr val="C9B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1402568" y="6445605"/>
            <a:ext cx="60350" cy="60350"/>
          </a:xfrm>
          <a:prstGeom prst="ellipse">
            <a:avLst/>
          </a:prstGeom>
          <a:solidFill>
            <a:srgbClr val="C9B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1347246" y="6671919"/>
            <a:ext cx="50292" cy="50292"/>
          </a:xfrm>
          <a:prstGeom prst="ellipse">
            <a:avLst/>
          </a:prstGeom>
          <a:solidFill>
            <a:srgbClr val="C9B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7C3AED"/>
                </a:solidFill>
                <a:latin typeface="Calibri"/>
              </a:rPr>
              <a:t>AI COPILOT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F2933"/>
                </a:solidFill>
                <a:latin typeface="Cambria"/>
              </a:rPr>
              <a:t>Retrieval is rule-based, not vector search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508760"/>
            <a:ext cx="457200" cy="457200"/>
          </a:xfrm>
          <a:prstGeom prst="ellipse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1965960"/>
            <a:ext cx="0" cy="457200"/>
          </a:xfrm>
          <a:prstGeom prst="line">
            <a:avLst/>
          </a:prstGeom>
          <a:ln w="25400">
            <a:solidFill>
              <a:srgbClr val="C9C3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234440" y="1481328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2933"/>
                </a:solidFill>
                <a:latin typeface="Calibri"/>
              </a:rPr>
              <a:t>Tokenize query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17720" y="1463039"/>
            <a:ext cx="70408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80" b="0" i="0">
                <a:solidFill>
                  <a:srgbClr val="5B6472"/>
                </a:solidFill>
                <a:latin typeface="Calibri"/>
              </a:rPr>
              <a:t>Strip ~90 generic stopwords and action words (fix / configure / install…) via a Levenshtein stemmer.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423160"/>
            <a:ext cx="457200" cy="457200"/>
          </a:xfrm>
          <a:prstGeom prst="ellipse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4231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2880360"/>
            <a:ext cx="0" cy="457200"/>
          </a:xfrm>
          <a:prstGeom prst="line">
            <a:avLst/>
          </a:prstGeom>
          <a:ln w="25400">
            <a:solidFill>
              <a:srgbClr val="C9C3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234440" y="2395728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2933"/>
                </a:solidFill>
                <a:latin typeface="Calibri"/>
              </a:rPr>
              <a:t>Detect product scope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377440"/>
            <a:ext cx="70408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80" b="0" i="0">
                <a:solidFill>
                  <a:srgbClr val="5B6472"/>
                </a:solidFill>
                <a:latin typeface="Calibri"/>
              </a:rPr>
              <a:t>Auto-picks xpa / xpi / cloud_native from query keywords when scope is “all”.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3337560"/>
            <a:ext cx="457200" cy="457200"/>
          </a:xfrm>
          <a:prstGeom prst="ellipse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3375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77240" y="3794760"/>
            <a:ext cx="0" cy="457200"/>
          </a:xfrm>
          <a:prstGeom prst="line">
            <a:avLst/>
          </a:prstGeom>
          <a:ln w="25400">
            <a:solidFill>
              <a:srgbClr val="C9C3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234440" y="3310128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2933"/>
                </a:solidFill>
                <a:latin typeface="Calibri"/>
              </a:rPr>
              <a:t>Domain-keyword gate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291840"/>
            <a:ext cx="70408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80" b="0" i="0">
                <a:solidFill>
                  <a:srgbClr val="5B6472"/>
                </a:solidFill>
                <a:latin typeface="Calibri"/>
              </a:rPr>
              <a:t>A hardcoded DOMAIN_KEYWORDS map enforces “strict isolation” — candidates must match the implied domain or are dropped.</a:t>
            </a:r>
          </a:p>
        </p:txBody>
      </p:sp>
      <p:sp>
        <p:nvSpPr>
          <p:cNvPr id="19" name="Oval 18"/>
          <p:cNvSpPr/>
          <p:nvPr/>
        </p:nvSpPr>
        <p:spPr>
          <a:xfrm>
            <a:off x="548640" y="4251960"/>
            <a:ext cx="457200" cy="457200"/>
          </a:xfrm>
          <a:prstGeom prst="ellipse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2519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77240" y="4709160"/>
            <a:ext cx="0" cy="457200"/>
          </a:xfrm>
          <a:prstGeom prst="line">
            <a:avLst/>
          </a:prstGeom>
          <a:ln w="25400">
            <a:solidFill>
              <a:srgbClr val="C9C3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234440" y="4224528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2933"/>
                </a:solidFill>
                <a:latin typeface="Calibri"/>
              </a:rPr>
              <a:t>Additive scoring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7720" y="4206240"/>
            <a:ext cx="70408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80" b="0" i="0">
                <a:solidFill>
                  <a:srgbClr val="5B6472"/>
                </a:solidFill>
                <a:latin typeface="Calibri"/>
              </a:rPr>
              <a:t>Title +45, content occurrence +25, domain +50, coverage bonus — hard minimum threshold of 50 to qualify.</a:t>
            </a:r>
          </a:p>
        </p:txBody>
      </p:sp>
      <p:sp>
        <p:nvSpPr>
          <p:cNvPr id="24" name="Oval 23"/>
          <p:cNvSpPr/>
          <p:nvPr/>
        </p:nvSpPr>
        <p:spPr>
          <a:xfrm>
            <a:off x="548640" y="5166360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51663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34440" y="5138928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2933"/>
                </a:solidFill>
                <a:latin typeface="Calibri"/>
              </a:rPr>
              <a:t>Assemble context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17720" y="5120640"/>
            <a:ext cx="70408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80" b="0" i="0">
                <a:solidFill>
                  <a:srgbClr val="5B6472"/>
                </a:solidFill>
                <a:latin typeface="Calibri"/>
              </a:rPr>
              <a:t>Top 4 KB docs + 2 Salesforce cases + 2 verified resolutions + 3 Help topics, each given a synthetic 75–99% relevance score.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688775" y="6419088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6472"/>
                </a:solidFill>
                <a:latin typeface="Calibri"/>
              </a:rPr>
              <a:t>07</a:t>
            </a:r>
          </a:p>
        </p:txBody>
      </p:sp>
      <p:sp>
        <p:nvSpPr>
          <p:cNvPr id="29" name="Oval 28"/>
          <p:cNvSpPr/>
          <p:nvPr/>
        </p:nvSpPr>
        <p:spPr>
          <a:xfrm>
            <a:off x="11186312" y="6510985"/>
            <a:ext cx="90525" cy="90525"/>
          </a:xfrm>
          <a:prstGeom prst="ellipse">
            <a:avLst/>
          </a:prstGeom>
          <a:solidFill>
            <a:srgbClr val="C9B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1402568" y="6445605"/>
            <a:ext cx="60350" cy="60350"/>
          </a:xfrm>
          <a:prstGeom prst="ellipse">
            <a:avLst/>
          </a:prstGeom>
          <a:solidFill>
            <a:srgbClr val="C9B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1347246" y="6671919"/>
            <a:ext cx="50292" cy="50292"/>
          </a:xfrm>
          <a:prstGeom prst="ellipse">
            <a:avLst/>
          </a:prstGeom>
          <a:solidFill>
            <a:srgbClr val="C9B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6B6D4"/>
                </a:solidFill>
                <a:latin typeface="Calibri"/>
              </a:rPr>
              <a:t>AI COPILOT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mbria"/>
              </a:rPr>
              <a:t>Multi-tier LLM fallback — never fully dark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3291840" cy="1463040"/>
          </a:xfrm>
          <a:prstGeom prst="roundRect">
            <a:avLst>
              <a:gd name="adj" fmla="val 6000"/>
            </a:avLst>
          </a:prstGeom>
          <a:solidFill>
            <a:srgbClr val="2A25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2011680"/>
            <a:ext cx="320040" cy="320040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19" y="1965960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Groq (default)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606040"/>
            <a:ext cx="29260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FC9F2"/>
                </a:solidFill>
                <a:latin typeface="Calibri"/>
              </a:rPr>
              <a:t>primary key → backup key → fallback model list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840480" y="2560320"/>
            <a:ext cx="523036" cy="0"/>
          </a:xfrm>
          <a:prstGeom prst="line">
            <a:avLst/>
          </a:prstGeom>
          <a:ln w="22225">
            <a:solidFill>
              <a:srgbClr val="06B6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Isosceles Triangle 8"/>
          <p:cNvSpPr/>
          <p:nvPr/>
        </p:nvSpPr>
        <p:spPr>
          <a:xfrm rot="5400000">
            <a:off x="4315968" y="2500884"/>
            <a:ext cx="118872" cy="118872"/>
          </a:xfrm>
          <a:prstGeom prst="triangl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94759" y="221284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CFC9F2"/>
                </a:solidFill>
                <a:latin typeface="Calibri"/>
              </a:rPr>
              <a:t>on fail 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828800"/>
            <a:ext cx="3291840" cy="1463040"/>
          </a:xfrm>
          <a:prstGeom prst="roundRect">
            <a:avLst>
              <a:gd name="adj" fmla="val 6000"/>
            </a:avLst>
          </a:prstGeom>
          <a:solidFill>
            <a:srgbClr val="2A25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36007" y="2011680"/>
            <a:ext cx="320040" cy="3200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74920" y="1965960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Gemini · OpenAI · OpenRouter · Azure · Ollama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7" y="2606040"/>
            <a:ext cx="29260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FC9F2"/>
                </a:solidFill>
                <a:latin typeface="Calibri"/>
              </a:rPr>
              <a:t>configurable, OpenAI-compatible /chat/completions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726679" y="2560320"/>
            <a:ext cx="523037" cy="0"/>
          </a:xfrm>
          <a:prstGeom prst="line">
            <a:avLst/>
          </a:prstGeom>
          <a:ln w="22225">
            <a:solidFill>
              <a:srgbClr val="06B6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Isosceles Triangle 15"/>
          <p:cNvSpPr/>
          <p:nvPr/>
        </p:nvSpPr>
        <p:spPr>
          <a:xfrm rot="5400000">
            <a:off x="8202167" y="2500884"/>
            <a:ext cx="118872" cy="118872"/>
          </a:xfrm>
          <a:prstGeom prst="triangl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59" y="221284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CFC9F2"/>
                </a:solidFill>
                <a:latin typeface="Calibri"/>
              </a:rPr>
              <a:t>on fail 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21040" y="1828800"/>
            <a:ext cx="3291840" cy="1463040"/>
          </a:xfrm>
          <a:prstGeom prst="roundRect">
            <a:avLst>
              <a:gd name="adj" fmla="val 6000"/>
            </a:avLst>
          </a:prstGeom>
          <a:solidFill>
            <a:srgbClr val="2A25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522208" y="2011680"/>
            <a:ext cx="320040" cy="3200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19" y="1965960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Expert Synthesizer (offline)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22208" y="2606040"/>
            <a:ext cx="29260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FC9F2"/>
                </a:solidFill>
                <a:latin typeface="Calibri"/>
              </a:rPr>
              <a:t>~1,100-line scripted fallback — zero cost, zero latency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794760"/>
            <a:ext cx="11091672" cy="2331720"/>
          </a:xfrm>
          <a:prstGeom prst="roundRect">
            <a:avLst>
              <a:gd name="adj" fmla="val 6000"/>
            </a:avLst>
          </a:prstGeom>
          <a:solidFill>
            <a:srgbClr val="2A25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023360"/>
            <a:ext cx="1042416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14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•  Every answer — from any tier — is persisted to ai_resolutions with its citations as JSON: a durable audit trail, not just a chat log.</a:t>
            </a:r>
          </a:p>
          <a:p>
            <a:pPr>
              <a:spcAft>
                <a:spcPts val="14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•  A Reviewer/Admin can mark a resolution “verified” and promote it into a first-class, re-indexed KB Document — turning chat into institutional knowledge.</a:t>
            </a:r>
          </a:p>
          <a:p>
            <a:pPr>
              <a:spcAft>
                <a:spcPts val="14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•  “anthropic” exists as a listed provider option in ai_settings, but has no wired call path today — worth flagging if asked “does it support Claude?”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688775" y="6419088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CFC9F2"/>
                </a:solidFill>
                <a:latin typeface="Calibri"/>
              </a:rPr>
              <a:t>08</a:t>
            </a:r>
          </a:p>
        </p:txBody>
      </p:sp>
      <p:sp>
        <p:nvSpPr>
          <p:cNvPr id="25" name="Oval 24"/>
          <p:cNvSpPr/>
          <p:nvPr/>
        </p:nvSpPr>
        <p:spPr>
          <a:xfrm>
            <a:off x="11186312" y="6510985"/>
            <a:ext cx="90525" cy="90525"/>
          </a:xfrm>
          <a:prstGeom prst="ellipse">
            <a:avLst/>
          </a:prstGeom>
          <a:solidFill>
            <a:srgbClr val="4A43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402568" y="6445605"/>
            <a:ext cx="60350" cy="60350"/>
          </a:xfrm>
          <a:prstGeom prst="ellipse">
            <a:avLst/>
          </a:prstGeom>
          <a:solidFill>
            <a:srgbClr val="4A43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347246" y="6671919"/>
            <a:ext cx="50292" cy="50292"/>
          </a:xfrm>
          <a:prstGeom prst="ellipse">
            <a:avLst/>
          </a:prstGeom>
          <a:solidFill>
            <a:srgbClr val="4A43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7C3AED"/>
                </a:solidFill>
                <a:latin typeface="Calibri"/>
              </a:rPr>
              <a:t>INGESTION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F2933"/>
                </a:solidFill>
                <a:latin typeface="Cambria"/>
              </a:rPr>
              <a:t>Indexer — format-aware, product-aware, self-healing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5394960" cy="4892040"/>
          </a:xfrm>
          <a:prstGeom prst="roundRect">
            <a:avLst>
              <a:gd name="adj" fmla="val 6000"/>
            </a:avLst>
          </a:prstGeom>
          <a:solidFill>
            <a:srgbClr val="F3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E1B4B"/>
                </a:solidFill>
                <a:latin typeface="Calibri"/>
              </a:rPr>
              <a:t>Formats parsed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11680"/>
            <a:ext cx="48463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1000"/>
              </a:spcAft>
            </a:pPr>
            <a:r>
              <a:rPr sz="1250" b="0">
                <a:solidFill>
                  <a:srgbClr val="1F2933"/>
                </a:solidFill>
                <a:latin typeface="Calibri"/>
              </a:rPr>
              <a:t>•  HTML / HTM — Confluence + RoboHelp exports</a:t>
            </a:r>
          </a:p>
          <a:p>
            <a:pPr>
              <a:spcAft>
                <a:spcPts val="1000"/>
              </a:spcAft>
            </a:pPr>
            <a:r>
              <a:rPr sz="1250" b="0">
                <a:solidFill>
                  <a:srgbClr val="1F2933"/>
                </a:solidFill>
                <a:latin typeface="Calibri"/>
              </a:rPr>
              <a:t>•  PDF — pypdf, incl. inline image extraction</a:t>
            </a:r>
          </a:p>
          <a:p>
            <a:pPr>
              <a:spcAft>
                <a:spcPts val="1000"/>
              </a:spcAft>
            </a:pPr>
            <a:r>
              <a:rPr sz="1250" b="0">
                <a:solidFill>
                  <a:srgbClr val="1F2933"/>
                </a:solidFill>
                <a:latin typeface="Calibri"/>
              </a:rPr>
              <a:t>•  DOCX — python-docx (text) + mammoth (styled HTML)</a:t>
            </a:r>
          </a:p>
          <a:p>
            <a:pPr>
              <a:spcAft>
                <a:spcPts val="1000"/>
              </a:spcAft>
            </a:pPr>
            <a:r>
              <a:rPr sz="1250" b="0">
                <a:solidFill>
                  <a:srgbClr val="1F2933"/>
                </a:solidFill>
                <a:latin typeface="Calibri"/>
              </a:rPr>
              <a:t>•  TXT / MD — markdown → HTML, H1 as title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611880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E1B4B"/>
                </a:solidFill>
                <a:latin typeface="Calibri"/>
              </a:rPr>
              <a:t>Product classification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977639"/>
            <a:ext cx="484632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1000"/>
              </a:spcAft>
            </a:pPr>
            <a:r>
              <a:rPr sz="1250" b="0">
                <a:solidFill>
                  <a:srgbClr val="1F2933"/>
                </a:solidFill>
                <a:latin typeface="Calibri"/>
              </a:rPr>
              <a:t>•  Folder-token match first (xpa-windows, isolated-fix-xpa, cso all resolve correctly, not just exact folder names)</a:t>
            </a:r>
          </a:p>
          <a:p>
            <a:pPr>
              <a:spcAft>
                <a:spcPts val="1000"/>
              </a:spcAft>
            </a:pPr>
            <a:r>
              <a:rPr sz="1250" b="0">
                <a:solidFill>
                  <a:srgbClr val="1F2933"/>
                </a:solidFill>
                <a:latin typeface="Calibri"/>
              </a:rPr>
              <a:t>•  Keyword fallback for files outside product folders (gigaspaces → xpi, kubernetes → cloud_native, magic.ini → xpa)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417320"/>
            <a:ext cx="5468112" cy="4892040"/>
          </a:xfrm>
          <a:prstGeom prst="roundRect">
            <a:avLst>
              <a:gd name="adj" fmla="val 6000"/>
            </a:avLst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64592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Indexing triggers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011680"/>
            <a:ext cx="493776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1000"/>
              </a:spcAft>
            </a:pPr>
            <a:r>
              <a:rPr sz="1250" b="0">
                <a:solidFill>
                  <a:srgbClr val="E7E3F9"/>
                </a:solidFill>
                <a:latin typeface="Calibri"/>
              </a:rPr>
              <a:t>•  Startup — full scan_and_index() on a background daemon thread (non-blocking)</a:t>
            </a:r>
          </a:p>
          <a:p>
            <a:pPr>
              <a:spcAft>
                <a:spcPts val="1000"/>
              </a:spcAft>
            </a:pPr>
            <a:r>
              <a:rPr sz="1250" b="0">
                <a:solidFill>
                  <a:srgbClr val="E7E3F9"/>
                </a:solidFill>
                <a:latin typeface="Calibri"/>
              </a:rPr>
              <a:t>•  On upload — index_single_file() parses just the new file, sub-50ms</a:t>
            </a:r>
          </a:p>
          <a:p>
            <a:pPr>
              <a:spcAft>
                <a:spcPts val="1000"/>
              </a:spcAft>
            </a:pPr>
            <a:r>
              <a:rPr sz="1250" b="0">
                <a:solidFill>
                  <a:srgbClr val="E7E3F9"/>
                </a:solidFill>
                <a:latin typeface="Calibri"/>
              </a:rPr>
              <a:t>•  Manual — Admin-only POST /api/admin/reindex full rescan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03320"/>
            <a:ext cx="5468112" cy="2468880"/>
          </a:xfrm>
          <a:prstGeom prst="roundRect">
            <a:avLst>
              <a:gd name="adj" fmla="val 6000"/>
            </a:avLst>
          </a:prstGeom>
          <a:solidFill>
            <a:srgbClr val="2A25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88620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6B6D4"/>
                </a:solidFill>
                <a:latin typeface="Calibri"/>
              </a:rPr>
              <a:t>Self-healing, with a safety valve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4224528"/>
            <a:ext cx="493776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7E3F9"/>
                </a:solidFill>
                <a:latin typeface="Calibri"/>
              </a:rPr>
              <a:t>Purges stale rows, re-aligns misclassified docs, prunes deleted files — but skips bulk pruning if &gt;25% of the index looks “missing” at once, guarding against a temporarily unmounted network share. Directly references a prior incident that cost 1,093 CSO articles.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688775" y="6419088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6472"/>
                </a:solidFill>
                <a:latin typeface="Calibri"/>
              </a:rPr>
              <a:t>09</a:t>
            </a:r>
          </a:p>
        </p:txBody>
      </p:sp>
      <p:sp>
        <p:nvSpPr>
          <p:cNvPr id="16" name="Oval 15"/>
          <p:cNvSpPr/>
          <p:nvPr/>
        </p:nvSpPr>
        <p:spPr>
          <a:xfrm>
            <a:off x="11186312" y="6510985"/>
            <a:ext cx="90525" cy="90525"/>
          </a:xfrm>
          <a:prstGeom prst="ellipse">
            <a:avLst/>
          </a:prstGeom>
          <a:solidFill>
            <a:srgbClr val="C9B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402568" y="6445605"/>
            <a:ext cx="60350" cy="60350"/>
          </a:xfrm>
          <a:prstGeom prst="ellipse">
            <a:avLst/>
          </a:prstGeom>
          <a:solidFill>
            <a:srgbClr val="C9B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347246" y="6671919"/>
            <a:ext cx="50292" cy="50292"/>
          </a:xfrm>
          <a:prstGeom prst="ellipse">
            <a:avLst/>
          </a:prstGeom>
          <a:solidFill>
            <a:srgbClr val="C9B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7C3AED"/>
                </a:solidFill>
                <a:latin typeface="Calibri"/>
              </a:rPr>
              <a:t>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F2933"/>
                </a:solidFill>
                <a:latin typeface="Cambria"/>
              </a:rPr>
              <a:t>Authentication &amp; role-based access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2615184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1645920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4592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691640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1F2933"/>
                </a:solidFill>
                <a:latin typeface="Calibri"/>
              </a:rPr>
              <a:t>Admin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40280"/>
            <a:ext cx="21945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B6472"/>
                </a:solidFill>
                <a:latin typeface="Calibri"/>
              </a:rPr>
              <a:t>Full control — users, reindex, analytics, audit logs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64992" y="1417320"/>
            <a:ext cx="2615184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593592" y="1645920"/>
            <a:ext cx="457200" cy="457200"/>
          </a:xfrm>
          <a:prstGeom prst="ellipse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93592" y="164592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87952" y="1691640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1F2933"/>
                </a:solidFill>
                <a:latin typeface="Calibri"/>
              </a:rPr>
              <a:t>Reviewer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3592" y="2240280"/>
            <a:ext cx="21945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B6472"/>
                </a:solidFill>
                <a:latin typeface="Calibri"/>
              </a:rPr>
              <a:t>Approves/rejects pending KB 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417320"/>
            <a:ext cx="2615184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09944" y="1645920"/>
            <a:ext cx="457200" cy="457200"/>
          </a:xfrm>
          <a:prstGeom prst="ellipse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9944" y="164592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04304" y="1691640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1F2933"/>
                </a:solidFill>
                <a:latin typeface="Calibri"/>
              </a:rPr>
              <a:t>Editor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9944" y="2240280"/>
            <a:ext cx="21945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B6472"/>
                </a:solidFill>
                <a:latin typeface="Calibri"/>
              </a:rPr>
              <a:t>Authors &amp; uploads KB content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97696" y="1417320"/>
            <a:ext cx="2615184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226296" y="1645920"/>
            <a:ext cx="457200" cy="457200"/>
          </a:xfrm>
          <a:prstGeom prst="ellipse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26296" y="164592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V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20656" y="1691640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1F2933"/>
                </a:solidFill>
                <a:latin typeface="Calibri"/>
              </a:rPr>
              <a:t>Viewer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26296" y="2240280"/>
            <a:ext cx="21945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B6472"/>
                </a:solidFill>
                <a:latin typeface="Calibri"/>
              </a:rPr>
              <a:t>Read-only — search, browse, AI Copilot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3383280"/>
            <a:ext cx="11091672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35478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1E1B4B"/>
                </a:solidFill>
                <a:latin typeface="Calibri"/>
              </a:rPr>
              <a:t>Login flow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3931920"/>
            <a:ext cx="25146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0" b="0" i="0">
                <a:solidFill>
                  <a:srgbClr val="5B6472"/>
                </a:solidFill>
                <a:latin typeface="Calibri"/>
              </a:rPr>
              <a:t>Password submitted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3364991" y="4160520"/>
            <a:ext cx="100585" cy="0"/>
          </a:xfrm>
          <a:prstGeom prst="line">
            <a:avLst/>
          </a:prstGeom>
          <a:ln w="22225">
            <a:solidFill>
              <a:srgbClr val="7C3AE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Isosceles Triangle 27"/>
          <p:cNvSpPr/>
          <p:nvPr/>
        </p:nvSpPr>
        <p:spPr>
          <a:xfrm rot="5400000">
            <a:off x="3429000" y="4114800"/>
            <a:ext cx="91440" cy="91440"/>
          </a:xfrm>
          <a:prstGeom prst="triangl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20440" y="3931920"/>
            <a:ext cx="25146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0" b="0" i="0">
                <a:solidFill>
                  <a:srgbClr val="5B6472"/>
                </a:solidFill>
                <a:latin typeface="Calibri"/>
              </a:rPr>
              <a:t>PBKDF2-HMAC-SHA256 verify (100k iters, custom — not the bundled passlib/bcrypt)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062472" y="4160520"/>
            <a:ext cx="100584" cy="0"/>
          </a:xfrm>
          <a:prstGeom prst="line">
            <a:avLst/>
          </a:prstGeom>
          <a:ln w="22225">
            <a:solidFill>
              <a:srgbClr val="7C3AE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Isosceles Triangle 30"/>
          <p:cNvSpPr/>
          <p:nvPr/>
        </p:nvSpPr>
        <p:spPr>
          <a:xfrm rot="5400000">
            <a:off x="6126480" y="4114800"/>
            <a:ext cx="91440" cy="91440"/>
          </a:xfrm>
          <a:prstGeom prst="triangl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17920" y="3931920"/>
            <a:ext cx="25146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0" b="0" i="0">
                <a:solidFill>
                  <a:srgbClr val="5B6472"/>
                </a:solidFill>
                <a:latin typeface="Calibri"/>
              </a:rPr>
              <a:t>JWT issued (HS256, 8h expiry)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759952" y="4160520"/>
            <a:ext cx="100584" cy="0"/>
          </a:xfrm>
          <a:prstGeom prst="line">
            <a:avLst/>
          </a:prstGeom>
          <a:ln w="22225">
            <a:solidFill>
              <a:srgbClr val="7C3AE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Isosceles Triangle 33"/>
          <p:cNvSpPr/>
          <p:nvPr/>
        </p:nvSpPr>
        <p:spPr>
          <a:xfrm rot="5400000">
            <a:off x="8823960" y="4114800"/>
            <a:ext cx="91440" cy="91440"/>
          </a:xfrm>
          <a:prstGeom prst="triangl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15400" y="3931920"/>
            <a:ext cx="25146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0" b="0" i="0">
                <a:solidFill>
                  <a:srgbClr val="5B6472"/>
                </a:solidFill>
                <a:latin typeface="Calibri"/>
              </a:rPr>
              <a:t>Bearer header, or ?token= query param for downloads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4983480"/>
            <a:ext cx="11091672" cy="1280160"/>
          </a:xfrm>
          <a:prstGeom prst="roundRect">
            <a:avLst>
              <a:gd name="adj" fmla="val 6000"/>
            </a:avLst>
          </a:prstGeom>
          <a:solidFill>
            <a:srgbClr val="ED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8680" y="5120640"/>
            <a:ext cx="1051560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1">
                <a:solidFill>
                  <a:srgbClr val="1F2933"/>
                </a:solidFill>
                <a:latin typeface="Calibri"/>
              </a:rPr>
              <a:t>Enforcement is a mix of a reusable require_role() dependency (~8 routes) and ad-hoc inline “if role != Admin” checks scattered across ~20 other admin routes — functionally fine today, but an easy place to introduce a gap during future edits.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688775" y="6419088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6472"/>
                </a:solidFill>
                <a:latin typeface="Calibri"/>
              </a:rPr>
              <a:t>10</a:t>
            </a:r>
          </a:p>
        </p:txBody>
      </p:sp>
      <p:sp>
        <p:nvSpPr>
          <p:cNvPr id="39" name="Oval 38"/>
          <p:cNvSpPr/>
          <p:nvPr/>
        </p:nvSpPr>
        <p:spPr>
          <a:xfrm>
            <a:off x="11186312" y="6510985"/>
            <a:ext cx="90525" cy="90525"/>
          </a:xfrm>
          <a:prstGeom prst="ellipse">
            <a:avLst/>
          </a:prstGeom>
          <a:solidFill>
            <a:srgbClr val="C9B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402568" y="6445605"/>
            <a:ext cx="60350" cy="60350"/>
          </a:xfrm>
          <a:prstGeom prst="ellipse">
            <a:avLst/>
          </a:prstGeom>
          <a:solidFill>
            <a:srgbClr val="C9B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1347246" y="6671919"/>
            <a:ext cx="50292" cy="50292"/>
          </a:xfrm>
          <a:prstGeom prst="ellipse">
            <a:avLst/>
          </a:prstGeom>
          <a:solidFill>
            <a:srgbClr val="C9B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7C3AED"/>
                </a:solidFill>
                <a:latin typeface="Calibri"/>
              </a:rPr>
              <a:t>FRONTEND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F2933"/>
                </a:solidFill>
                <a:latin typeface="Cambria"/>
              </a:rPr>
              <a:t>Frontend — deliberately no build 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6583680" cy="4846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1600"/>
              </a:spcAft>
            </a:pPr>
            <a:r>
              <a:rPr sz="1400" b="0">
                <a:solidFill>
                  <a:srgbClr val="1F2933"/>
                </a:solidFill>
                <a:latin typeface="Calibri"/>
              </a:rPr>
              <a:t>•  Single index.html shell (1,966 lines) — six #page-… sections toggled by a .hide class</a:t>
            </a:r>
          </a:p>
          <a:p>
            <a:pPr>
              <a:spcAft>
                <a:spcPts val="1600"/>
              </a:spcAft>
            </a:pPr>
            <a:r>
              <a:rPr sz="1400" b="0">
                <a:solidFill>
                  <a:srgbClr val="1F2933"/>
                </a:solidFill>
                <a:latin typeface="Calibri"/>
              </a:rPr>
              <a:t>•  switchPage() is the entire router — no History API, no hash routing</a:t>
            </a:r>
          </a:p>
          <a:p>
            <a:pPr>
              <a:spcAft>
                <a:spcPts val="1600"/>
              </a:spcAft>
            </a:pPr>
            <a:r>
              <a:rPr sz="1400" b="0">
                <a:solidFill>
                  <a:srgbClr val="1F2933"/>
                </a:solidFill>
                <a:latin typeface="Calibri"/>
              </a:rPr>
              <a:t>•  app.js (6,392 lines) — one IIFE, 150+ top-level functions, no ES modules</a:t>
            </a:r>
          </a:p>
          <a:p>
            <a:pPr>
              <a:spcAft>
                <a:spcPts val="1600"/>
              </a:spcAft>
            </a:pPr>
            <a:r>
              <a:rPr sz="1400" b="0">
                <a:solidFill>
                  <a:srgbClr val="1F2933"/>
                </a:solidFill>
                <a:latin typeface="Calibri"/>
              </a:rPr>
              <a:t>•  State: module-scope let vars (token, role) + localStorage (theme, drafts, recents, favorites, guest client id)</a:t>
            </a:r>
          </a:p>
          <a:p>
            <a:pPr>
              <a:spcAft>
                <a:spcPts val="1600"/>
              </a:spcAft>
            </a:pPr>
            <a:r>
              <a:rPr sz="1400" b="0">
                <a:solidFill>
                  <a:srgbClr val="1F2933"/>
                </a:solidFill>
                <a:latin typeface="Calibri"/>
              </a:rPr>
              <a:t>•  All backend calls: plain same-origin fetch('/api/…') with a manual Authorization header</a:t>
            </a:r>
          </a:p>
          <a:p>
            <a:pPr>
              <a:spcAft>
                <a:spcPts val="1600"/>
              </a:spcAft>
            </a:pPr>
            <a:r>
              <a:rPr sz="1400" b="0">
                <a:solidFill>
                  <a:srgbClr val="1F2933"/>
                </a:solidFill>
                <a:latin typeface="Calibri"/>
              </a:rPr>
              <a:t>•  Third-party libs loaded from CDN, not bundled: Lucide (icons), marked.js (Markdown render), Chart.js (admin analytics)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52360" y="1463040"/>
            <a:ext cx="4160520" cy="4800600"/>
          </a:xfrm>
          <a:prstGeom prst="roundRect">
            <a:avLst>
              <a:gd name="adj" fmla="val 6000"/>
            </a:avLst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0" y="1828800"/>
            <a:ext cx="352044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FFFFFF"/>
                </a:solidFill>
                <a:latin typeface="Cambria"/>
              </a:rPr>
              <a:t>“There is no frontend build step, and none should be added … A build that outputs into that folder would delete the running app.”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3931920"/>
            <a:ext cx="3520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FC9F2"/>
                </a:solidFill>
                <a:latin typeface="Calibri"/>
              </a:rPr>
              <a:t>— run.bat, project source comment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0" y="4572000"/>
            <a:ext cx="3520440" cy="0"/>
          </a:xfrm>
          <a:prstGeom prst="line">
            <a:avLst/>
          </a:prstGeom>
          <a:ln w="12700">
            <a:solidFill>
              <a:srgbClr val="06B6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772400" y="4709160"/>
            <a:ext cx="35204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7E3F9"/>
                </a:solidFill>
                <a:latin typeface="Calibri"/>
              </a:rPr>
              <a:t>frontend/ IS the running application — not a build artifact.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88775" y="6419088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6472"/>
                </a:solidFill>
                <a:latin typeface="Calibri"/>
              </a:rPr>
              <a:t>11</a:t>
            </a:r>
          </a:p>
        </p:txBody>
      </p:sp>
      <p:sp>
        <p:nvSpPr>
          <p:cNvPr id="11" name="Oval 10"/>
          <p:cNvSpPr/>
          <p:nvPr/>
        </p:nvSpPr>
        <p:spPr>
          <a:xfrm>
            <a:off x="11186312" y="6510985"/>
            <a:ext cx="90525" cy="90525"/>
          </a:xfrm>
          <a:prstGeom prst="ellipse">
            <a:avLst/>
          </a:prstGeom>
          <a:solidFill>
            <a:srgbClr val="C9B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402568" y="6445605"/>
            <a:ext cx="60350" cy="60350"/>
          </a:xfrm>
          <a:prstGeom prst="ellipse">
            <a:avLst/>
          </a:prstGeom>
          <a:solidFill>
            <a:srgbClr val="C9B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347246" y="6671919"/>
            <a:ext cx="50292" cy="50292"/>
          </a:xfrm>
          <a:prstGeom prst="ellipse">
            <a:avLst/>
          </a:prstGeom>
          <a:solidFill>
            <a:srgbClr val="C9B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6B6D4"/>
                </a:solidFill>
                <a:latin typeface="Calibri"/>
              </a:rPr>
              <a:t>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mbria"/>
              </a:rPr>
              <a:t>Zero-dependency, airgap-ready deployment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965960"/>
            <a:ext cx="2615184" cy="2743200"/>
          </a:xfrm>
          <a:prstGeom prst="roundRect">
            <a:avLst>
              <a:gd name="adj" fmla="val 6000"/>
            </a:avLst>
          </a:prstGeom>
          <a:solidFill>
            <a:srgbClr val="2A25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2194560"/>
            <a:ext cx="457200" cy="457200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1945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1E1B4B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43200"/>
            <a:ext cx="22860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setup_portable_runtime.bat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37560"/>
            <a:ext cx="22860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0" b="0" i="0">
                <a:solidFill>
                  <a:srgbClr val="CFC9F2"/>
                </a:solidFill>
                <a:latin typeface="Calibri"/>
              </a:rPr>
              <a:t>Downloads portable Python 3.11.9 + MinGit, bootstraps pip, installs requirements.txt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200400" y="3337560"/>
            <a:ext cx="109728" cy="0"/>
          </a:xfrm>
          <a:prstGeom prst="line">
            <a:avLst/>
          </a:prstGeom>
          <a:ln w="22225">
            <a:solidFill>
              <a:srgbClr val="06B6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Isosceles Triangle 9"/>
          <p:cNvSpPr/>
          <p:nvPr/>
        </p:nvSpPr>
        <p:spPr>
          <a:xfrm rot="5400000">
            <a:off x="3273552" y="3291840"/>
            <a:ext cx="91440" cy="91440"/>
          </a:xfrm>
          <a:prstGeom prst="triangl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364992" y="1965960"/>
            <a:ext cx="2615184" cy="2743200"/>
          </a:xfrm>
          <a:prstGeom prst="roundRect">
            <a:avLst>
              <a:gd name="adj" fmla="val 6000"/>
            </a:avLst>
          </a:prstGeom>
          <a:solidFill>
            <a:srgbClr val="2A25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593592" y="2194560"/>
            <a:ext cx="457200" cy="457200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93592" y="21945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1E1B4B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47872" y="2743200"/>
            <a:ext cx="22860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Copy the folder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47872" y="3337560"/>
            <a:ext cx="22860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0" b="0" i="0">
                <a:solidFill>
                  <a:srgbClr val="CFC9F2"/>
                </a:solidFill>
                <a:latin typeface="Calibri"/>
              </a:rPr>
              <a:t>To any Windows Server VM — zero Python / Node / Git install, zero internet needed after this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016752" y="3337560"/>
            <a:ext cx="109728" cy="0"/>
          </a:xfrm>
          <a:prstGeom prst="line">
            <a:avLst/>
          </a:prstGeom>
          <a:ln w="22225">
            <a:solidFill>
              <a:srgbClr val="06B6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Isosceles Triangle 16"/>
          <p:cNvSpPr/>
          <p:nvPr/>
        </p:nvSpPr>
        <p:spPr>
          <a:xfrm rot="5400000">
            <a:off x="6089904" y="3291840"/>
            <a:ext cx="91440" cy="91440"/>
          </a:xfrm>
          <a:prstGeom prst="triangl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81344" y="1965960"/>
            <a:ext cx="2615184" cy="2743200"/>
          </a:xfrm>
          <a:prstGeom prst="roundRect">
            <a:avLst>
              <a:gd name="adj" fmla="val 6000"/>
            </a:avLst>
          </a:prstGeom>
          <a:solidFill>
            <a:srgbClr val="2A25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09944" y="2194560"/>
            <a:ext cx="457200" cy="457200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9944" y="21945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1E1B4B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64224" y="2743200"/>
            <a:ext cx="22860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install_service.bat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64224" y="3337560"/>
            <a:ext cx="22860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0" b="0" i="0">
                <a:solidFill>
                  <a:srgbClr val="CFC9F2"/>
                </a:solidFill>
                <a:latin typeface="Calibri"/>
              </a:rPr>
              <a:t>Resolves the Python path, installs MagicService.exe (WinSW) as a Windows Service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833104" y="3337560"/>
            <a:ext cx="109728" cy="0"/>
          </a:xfrm>
          <a:prstGeom prst="line">
            <a:avLst/>
          </a:prstGeom>
          <a:ln w="22225">
            <a:solidFill>
              <a:srgbClr val="06B6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Isosceles Triangle 23"/>
          <p:cNvSpPr/>
          <p:nvPr/>
        </p:nvSpPr>
        <p:spPr>
          <a:xfrm rot="5400000">
            <a:off x="8906256" y="3291840"/>
            <a:ext cx="91440" cy="91440"/>
          </a:xfrm>
          <a:prstGeom prst="triangl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997696" y="1965960"/>
            <a:ext cx="2615184" cy="2743200"/>
          </a:xfrm>
          <a:prstGeom prst="roundRect">
            <a:avLst>
              <a:gd name="adj" fmla="val 6000"/>
            </a:avLst>
          </a:prstGeom>
          <a:solidFill>
            <a:srgbClr val="2A25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226296" y="2194560"/>
            <a:ext cx="457200" cy="457200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26296" y="21945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1E1B4B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0576" y="2743200"/>
            <a:ext cx="22860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Running as a service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3337560"/>
            <a:ext cx="22860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0" b="0" i="0">
                <a:solidFill>
                  <a:srgbClr val="CFC9F2"/>
                </a:solidFill>
                <a:latin typeface="Calibri"/>
              </a:rPr>
              <a:t>Auto-restart on failure, rotating logs, runs uvicorn under LocalSystem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074920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CFC9F2"/>
                </a:solidFill>
                <a:latin typeface="Calibri"/>
              </a:rPr>
              <a:t>MagicService.exe is a renamed WinSW (Windows Service Wrapper) v2.12.0 binary — a generic open-source .NET service host, not custom-built.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688775" y="6419088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CFC9F2"/>
                </a:solidFill>
                <a:latin typeface="Calibri"/>
              </a:rPr>
              <a:t>12</a:t>
            </a:r>
          </a:p>
        </p:txBody>
      </p:sp>
      <p:sp>
        <p:nvSpPr>
          <p:cNvPr id="32" name="Oval 31"/>
          <p:cNvSpPr/>
          <p:nvPr/>
        </p:nvSpPr>
        <p:spPr>
          <a:xfrm>
            <a:off x="11186312" y="6510985"/>
            <a:ext cx="90525" cy="90525"/>
          </a:xfrm>
          <a:prstGeom prst="ellipse">
            <a:avLst/>
          </a:prstGeom>
          <a:solidFill>
            <a:srgbClr val="4A43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1402568" y="6445605"/>
            <a:ext cx="60350" cy="60350"/>
          </a:xfrm>
          <a:prstGeom prst="ellipse">
            <a:avLst/>
          </a:prstGeom>
          <a:solidFill>
            <a:srgbClr val="4A43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1347246" y="6671919"/>
            <a:ext cx="50292" cy="50292"/>
          </a:xfrm>
          <a:prstGeom prst="ellipse">
            <a:avLst/>
          </a:prstGeom>
          <a:solidFill>
            <a:srgbClr val="4A43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7C3AED"/>
                </a:solidFill>
                <a:latin typeface="Calibri"/>
              </a:rPr>
              <a:t>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F2933"/>
                </a:solidFill>
                <a:latin typeface="Cambria"/>
              </a:rPr>
              <a:t>What's working well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5349240" cy="1508760"/>
          </a:xfrm>
          <a:prstGeom prst="roundRect">
            <a:avLst>
              <a:gd name="adj" fmla="val 6000"/>
            </a:avLst>
          </a:prstGeom>
          <a:solidFill>
            <a:srgbClr val="F3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1645920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4592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19" y="1600200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2933"/>
                </a:solidFill>
                <a:latin typeface="Calibri"/>
              </a:rPr>
              <a:t>Airgap deployability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19" y="1984248"/>
            <a:ext cx="43434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30" b="0" i="0">
                <a:solidFill>
                  <a:srgbClr val="5B6472"/>
                </a:solidFill>
                <a:latin typeface="Calibri"/>
              </a:rPr>
              <a:t>Portable Python + portable Git + WinSW + zero build tooling — copy a folder, get a running service.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417320"/>
            <a:ext cx="5349240" cy="1508760"/>
          </a:xfrm>
          <a:prstGeom prst="roundRect">
            <a:avLst>
              <a:gd name="adj" fmla="val 6000"/>
            </a:avLst>
          </a:prstGeom>
          <a:solidFill>
            <a:srgbClr val="F3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00800" y="1645920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64592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0" y="1600200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2933"/>
                </a:solidFill>
                <a:latin typeface="Calibri"/>
              </a:rPr>
              <a:t>Graceful AI degradation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1984248"/>
            <a:ext cx="43434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30" b="0" i="0">
                <a:solidFill>
                  <a:srgbClr val="5B6472"/>
                </a:solidFill>
                <a:latin typeface="Calibri"/>
              </a:rPr>
              <a:t>Cloud LLM → automatic fallback to a fully offline Expert Synthesizer. The AI feature never goes fully dark.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108960"/>
            <a:ext cx="5349240" cy="1508760"/>
          </a:xfrm>
          <a:prstGeom prst="roundRect">
            <a:avLst>
              <a:gd name="adj" fmla="val 6000"/>
            </a:avLst>
          </a:prstGeom>
          <a:solidFill>
            <a:srgbClr val="F3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77240" y="3337560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3375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19" y="3291840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2933"/>
                </a:solidFill>
                <a:latin typeface="Calibri"/>
              </a:rPr>
              <a:t>Self-healing indexer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19" y="3675888"/>
            <a:ext cx="43434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30" b="0" i="0">
                <a:solidFill>
                  <a:srgbClr val="5B6472"/>
                </a:solidFill>
                <a:latin typeface="Calibri"/>
              </a:rPr>
              <a:t>Safety valves are incident-driven, not theoretical — directly references a prior 1,093-article data-loss event.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3108960"/>
            <a:ext cx="5349240" cy="1508760"/>
          </a:xfrm>
          <a:prstGeom prst="roundRect">
            <a:avLst>
              <a:gd name="adj" fmla="val 6000"/>
            </a:avLst>
          </a:prstGeom>
          <a:solidFill>
            <a:srgbClr val="F3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00800" y="3337560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33375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0" y="3291840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F2933"/>
                </a:solidFill>
                <a:latin typeface="Calibri"/>
              </a:rPr>
              <a:t>Product-isolated RAG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3675888"/>
            <a:ext cx="43434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30" b="0" i="0">
                <a:solidFill>
                  <a:srgbClr val="5B6472"/>
                </a:solidFill>
                <a:latin typeface="Calibri"/>
              </a:rPr>
              <a:t>Folder-authoritative classification + domain-keyword gating is a deliberate, well-documented anti-hallucination design.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800600"/>
            <a:ext cx="11091672" cy="1051560"/>
          </a:xfrm>
          <a:prstGeom prst="roundRect">
            <a:avLst>
              <a:gd name="adj" fmla="val 6000"/>
            </a:avLst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77240" y="4983480"/>
            <a:ext cx="457200" cy="457200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4983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1E1B4B"/>
                </a:solidFill>
                <a:latin typeface="Calibr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17320" y="493776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Continuous-learning loop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17320" y="5303520"/>
            <a:ext cx="9966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E7E3F9"/>
                </a:solidFill>
                <a:latin typeface="Calibri"/>
              </a:rPr>
              <a:t>Every AI answer is persisted, reviewable, and promotable into a permanent KB article — chat becomes institutional knowledge.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688775" y="6419088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6472"/>
                </a:solidFill>
                <a:latin typeface="Calibri"/>
              </a:rPr>
              <a:t>13</a:t>
            </a:r>
          </a:p>
        </p:txBody>
      </p:sp>
      <p:sp>
        <p:nvSpPr>
          <p:cNvPr id="30" name="Oval 29"/>
          <p:cNvSpPr/>
          <p:nvPr/>
        </p:nvSpPr>
        <p:spPr>
          <a:xfrm>
            <a:off x="11186312" y="6510985"/>
            <a:ext cx="90525" cy="90525"/>
          </a:xfrm>
          <a:prstGeom prst="ellipse">
            <a:avLst/>
          </a:prstGeom>
          <a:solidFill>
            <a:srgbClr val="C9B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1402568" y="6445605"/>
            <a:ext cx="60350" cy="60350"/>
          </a:xfrm>
          <a:prstGeom prst="ellipse">
            <a:avLst/>
          </a:prstGeom>
          <a:solidFill>
            <a:srgbClr val="C9B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1347246" y="6671919"/>
            <a:ext cx="50292" cy="50292"/>
          </a:xfrm>
          <a:prstGeom prst="ellipse">
            <a:avLst/>
          </a:prstGeom>
          <a:solidFill>
            <a:srgbClr val="C9B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7C3AED"/>
                </a:solidFill>
                <a:latin typeface="Calibri"/>
              </a:rPr>
              <a:t>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F2933"/>
                </a:solidFill>
                <a:latin typeface="Cambria"/>
              </a:rPr>
              <a:t>Where technical debt is accumulating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3520440" cy="4892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645920"/>
            <a:ext cx="3063240" cy="411480"/>
          </a:xfrm>
          <a:prstGeom prst="roundRect">
            <a:avLst>
              <a:gd name="adj" fmla="val 20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45920"/>
            <a:ext cx="30632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Security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31720"/>
            <a:ext cx="3108960" cy="384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1400"/>
              </a:spcAft>
            </a:pPr>
            <a:r>
              <a:rPr sz="1180" b="0">
                <a:solidFill>
                  <a:srgbClr val="1F2933"/>
                </a:solidFill>
                <a:latin typeface="Calibri"/>
              </a:rPr>
              <a:t>•  JWT SECRET_KEY is a hardcoded placeholder, never rotated</a:t>
            </a:r>
          </a:p>
          <a:p>
            <a:pPr>
              <a:spcAft>
                <a:spcPts val="1400"/>
              </a:spcAft>
            </a:pPr>
            <a:r>
              <a:rPr sz="1180" b="0">
                <a:solidFill>
                  <a:srgbClr val="1F2933"/>
                </a:solidFill>
                <a:latin typeface="Calibri"/>
              </a:rPr>
              <a:t>•  Groq API keys XOR-“obfuscated” in source (2 files) — trivially reversible</a:t>
            </a:r>
          </a:p>
          <a:p>
            <a:pPr>
              <a:spcAft>
                <a:spcPts val="1400"/>
              </a:spcAft>
            </a:pPr>
            <a:r>
              <a:rPr sz="1180" b="0">
                <a:solidFill>
                  <a:srgbClr val="1F2933"/>
                </a:solidFill>
                <a:latin typeface="Calibri"/>
              </a:rPr>
              <a:t>•  CORS: allow_origins="*" + allow_credentials=True together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1959" y="1417320"/>
            <a:ext cx="3520440" cy="4892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480559" y="1645920"/>
            <a:ext cx="3063240" cy="411480"/>
          </a:xfrm>
          <a:prstGeom prst="roundRect">
            <a:avLst>
              <a:gd name="adj" fmla="val 20000"/>
            </a:avLst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59" y="1645920"/>
            <a:ext cx="30632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Scale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59" y="2331720"/>
            <a:ext cx="3108960" cy="384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1400"/>
              </a:spcAft>
            </a:pPr>
            <a:r>
              <a:rPr sz="1180" b="0">
                <a:solidFill>
                  <a:srgbClr val="1F2933"/>
                </a:solidFill>
                <a:latin typeface="Calibri"/>
              </a:rPr>
              <a:t>•  SQLite single-writer model; check_same_thread=False papers over it</a:t>
            </a:r>
          </a:p>
          <a:p>
            <a:pPr>
              <a:spcAft>
                <a:spcPts val="1400"/>
              </a:spcAft>
            </a:pPr>
            <a:r>
              <a:rPr sz="1180" b="0">
                <a:solidFill>
                  <a:srgbClr val="1F2933"/>
                </a:solidFill>
                <a:latin typeface="Calibri"/>
              </a:rPr>
              <a:t>•  “AI Copilot” has no embeddings/vector search — won't scale to paraphrase/synonym recall</a:t>
            </a:r>
          </a:p>
          <a:p>
            <a:pPr>
              <a:spcAft>
                <a:spcPts val="1400"/>
              </a:spcAft>
            </a:pPr>
            <a:r>
              <a:rPr sz="1180" b="0">
                <a:solidFill>
                  <a:srgbClr val="1F2933"/>
                </a:solidFill>
                <a:latin typeface="Calibri"/>
              </a:rPr>
              <a:t>•  No migration framework — schema checks re-run imperatively on every boot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79" y="1417320"/>
            <a:ext cx="3520440" cy="4892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183879" y="1645920"/>
            <a:ext cx="3063240" cy="411480"/>
          </a:xfrm>
          <a:prstGeom prst="roundRect">
            <a:avLst>
              <a:gd name="adj" fmla="val 2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83879" y="1645920"/>
            <a:ext cx="30632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Maintainability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79" y="2331720"/>
            <a:ext cx="3108960" cy="384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1400"/>
              </a:spcAft>
            </a:pPr>
            <a:r>
              <a:rPr sz="1180" b="0">
                <a:solidFill>
                  <a:srgbClr val="1F2933"/>
                </a:solidFill>
                <a:latin typeface="Calibri"/>
              </a:rPr>
              <a:t>•  main.py: 3,616 lines / 81 routes, no APIRouter split</a:t>
            </a:r>
          </a:p>
          <a:p>
            <a:pPr>
              <a:spcAft>
                <a:spcPts val="1400"/>
              </a:spcAft>
            </a:pPr>
            <a:r>
              <a:rPr sz="1180" b="0">
                <a:solidFill>
                  <a:srgbClr val="1F2933"/>
                </a:solidFill>
                <a:latin typeface="Calibri"/>
              </a:rPr>
              <a:t>•  ai_engine.py: one 1,100-line if/elif “expert” function</a:t>
            </a:r>
          </a:p>
          <a:p>
            <a:pPr>
              <a:spcAft>
                <a:spcPts val="1400"/>
              </a:spcAft>
            </a:pPr>
            <a:r>
              <a:rPr sz="1180" b="0">
                <a:solidFill>
                  <a:srgbClr val="1F2933"/>
                </a:solidFill>
                <a:latin typeface="Calibri"/>
              </a:rPr>
              <a:t>•  app.js: 6,392 lines, one IIFE, zero tests/lint/TS</a:t>
            </a:r>
          </a:p>
          <a:p>
            <a:pPr>
              <a:spcAft>
                <a:spcPts val="1400"/>
              </a:spcAft>
            </a:pPr>
            <a:r>
              <a:rPr sz="1180" b="0">
                <a:solidFill>
                  <a:srgbClr val="1F2933"/>
                </a:solidFill>
                <a:latin typeface="Calibri"/>
              </a:rPr>
              <a:t>•  Duplicate route pairs (/api/utilities* == /api/downloads*)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88775" y="6419088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6472"/>
                </a:solidFill>
                <a:latin typeface="Calibri"/>
              </a:rPr>
              <a:t>14</a:t>
            </a:r>
          </a:p>
        </p:txBody>
      </p:sp>
      <p:sp>
        <p:nvSpPr>
          <p:cNvPr id="17" name="Oval 16"/>
          <p:cNvSpPr/>
          <p:nvPr/>
        </p:nvSpPr>
        <p:spPr>
          <a:xfrm>
            <a:off x="11186312" y="6510985"/>
            <a:ext cx="90525" cy="90525"/>
          </a:xfrm>
          <a:prstGeom prst="ellipse">
            <a:avLst/>
          </a:prstGeom>
          <a:solidFill>
            <a:srgbClr val="C9B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402568" y="6445605"/>
            <a:ext cx="60350" cy="60350"/>
          </a:xfrm>
          <a:prstGeom prst="ellipse">
            <a:avLst/>
          </a:prstGeom>
          <a:solidFill>
            <a:srgbClr val="C9B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347246" y="6671919"/>
            <a:ext cx="50292" cy="50292"/>
          </a:xfrm>
          <a:prstGeom prst="ellipse">
            <a:avLst/>
          </a:prstGeom>
          <a:solidFill>
            <a:srgbClr val="C9B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7428" y="824788"/>
            <a:ext cx="362102" cy="362102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382451" y="563270"/>
            <a:ext cx="241401" cy="241401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161166" y="1468526"/>
            <a:ext cx="201168" cy="201168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6B6D4"/>
                </a:solidFill>
                <a:latin typeface="Calibri"/>
              </a:rPr>
              <a:t>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mbria"/>
              </a:rPr>
              <a:t>By the numbers — and where we go next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2057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600" b="1" i="0">
                <a:solidFill>
                  <a:srgbClr val="06B6D4"/>
                </a:solidFill>
                <a:latin typeface="Cambria"/>
              </a:rPr>
              <a:t>8,268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12848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 i="0">
                <a:solidFill>
                  <a:srgbClr val="CFC9F2"/>
                </a:solidFill>
                <a:latin typeface="Calibri"/>
              </a:rPr>
              <a:t>backend LOC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920" y="1600200"/>
            <a:ext cx="2057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600" b="1" i="0">
                <a:solidFill>
                  <a:srgbClr val="06B6D4"/>
                </a:solidFill>
                <a:latin typeface="Cambria"/>
              </a:rPr>
              <a:t>~10,000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2212848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 i="0">
                <a:solidFill>
                  <a:srgbClr val="CFC9F2"/>
                </a:solidFill>
                <a:latin typeface="Calibri"/>
              </a:rPr>
              <a:t>frontend LOC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1600200"/>
            <a:ext cx="2057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600" b="1" i="0">
                <a:solidFill>
                  <a:srgbClr val="06B6D4"/>
                </a:solidFill>
                <a:latin typeface="Cambria"/>
              </a:rPr>
              <a:t>81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2212848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 i="0">
                <a:solidFill>
                  <a:srgbClr val="CFC9F2"/>
                </a:solidFill>
                <a:latin typeface="Calibri"/>
              </a:rPr>
              <a:t>API endpoints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9480" y="1600200"/>
            <a:ext cx="2057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600" b="1" i="0">
                <a:solidFill>
                  <a:srgbClr val="06B6D4"/>
                </a:solidFill>
                <a:latin typeface="Cambria"/>
              </a:rPr>
              <a:t>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69480" y="2212848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 i="0">
                <a:solidFill>
                  <a:srgbClr val="CFC9F2"/>
                </a:solidFill>
                <a:latin typeface="Calibri"/>
              </a:rPr>
              <a:t>DB tables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0" y="1600200"/>
            <a:ext cx="2057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600" b="1" i="0">
                <a:solidFill>
                  <a:srgbClr val="06B6D4"/>
                </a:solidFill>
                <a:latin typeface="Cambria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60" y="2212848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 i="0">
                <a:solidFill>
                  <a:srgbClr val="CFC9F2"/>
                </a:solidFill>
                <a:latin typeface="Calibri"/>
              </a:rPr>
              <a:t>LLM providers wired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063240"/>
            <a:ext cx="11091672" cy="3063240"/>
          </a:xfrm>
          <a:prstGeom prst="roundRect">
            <a:avLst>
              <a:gd name="adj" fmla="val 6000"/>
            </a:avLst>
          </a:prstGeom>
          <a:solidFill>
            <a:srgbClr val="2A25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2461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Open questions for the team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657600"/>
            <a:ext cx="1042416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1400"/>
              </a:spcAft>
            </a:pPr>
            <a:r>
              <a:rPr sz="1350" b="0">
                <a:solidFill>
                  <a:srgbClr val="FFFFFF"/>
                </a:solidFill>
                <a:latin typeface="Calibri"/>
              </a:rPr>
              <a:t>•  Rotate the JWT secret and move all API keys to env vars / a secrets manager — lowest-effort, highest-impact fix</a:t>
            </a:r>
          </a:p>
          <a:p>
            <a:pPr>
              <a:spcAft>
                <a:spcPts val="1400"/>
              </a:spcAft>
            </a:pPr>
            <a:r>
              <a:rPr sz="1350" b="0">
                <a:solidFill>
                  <a:srgbClr val="FFFFFF"/>
                </a:solidFill>
                <a:latin typeface="Calibri"/>
              </a:rPr>
              <a:t>•  Worth adding real embeddings / vector search, or does folder-scoped keyword retrieval keep serving us well enough?</a:t>
            </a:r>
          </a:p>
          <a:p>
            <a:pPr>
              <a:spcAft>
                <a:spcPts val="1400"/>
              </a:spcAft>
            </a:pPr>
            <a:r>
              <a:rPr sz="1350" b="0">
                <a:solidFill>
                  <a:srgbClr val="FFFFFF"/>
                </a:solidFill>
                <a:latin typeface="Calibri"/>
              </a:rPr>
              <a:t>•  Split main.py into APIRouter modules before the next major feature lands on top of it</a:t>
            </a:r>
          </a:p>
          <a:p>
            <a:pPr>
              <a:spcAft>
                <a:spcPts val="1400"/>
              </a:spcAft>
            </a:pPr>
            <a:r>
              <a:rPr sz="1350" b="0">
                <a:solidFill>
                  <a:srgbClr val="FFFFFF"/>
                </a:solidFill>
                <a:latin typeface="Calibri"/>
              </a:rPr>
              <a:t>•  At what usage level does SQLite become the actual bottleneck, and what's the Postgres migration trigger?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688775" y="6419088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CFC9F2"/>
                </a:solidFill>
                <a:latin typeface="Calibri"/>
              </a:rPr>
              <a:t>15</a:t>
            </a:r>
          </a:p>
        </p:txBody>
      </p:sp>
      <p:sp>
        <p:nvSpPr>
          <p:cNvPr id="21" name="Oval 20"/>
          <p:cNvSpPr/>
          <p:nvPr/>
        </p:nvSpPr>
        <p:spPr>
          <a:xfrm>
            <a:off x="11186312" y="6510985"/>
            <a:ext cx="90525" cy="90525"/>
          </a:xfrm>
          <a:prstGeom prst="ellipse">
            <a:avLst/>
          </a:prstGeom>
          <a:solidFill>
            <a:srgbClr val="4A43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402568" y="6445605"/>
            <a:ext cx="60350" cy="60350"/>
          </a:xfrm>
          <a:prstGeom prst="ellipse">
            <a:avLst/>
          </a:prstGeom>
          <a:solidFill>
            <a:srgbClr val="4A43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347246" y="6671919"/>
            <a:ext cx="50292" cy="50292"/>
          </a:xfrm>
          <a:prstGeom prst="ellipse">
            <a:avLst/>
          </a:prstGeom>
          <a:solidFill>
            <a:srgbClr val="4A43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